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d0a022-67f0-d1bb-bc9d-029adcaa038e}">
          <p14:sldIdLst>
            <p14:sldId id="256"/>
          </p14:sldIdLst>
        </p14:section>
        <p14:section name="Problem" id="{cb7c746b-eeb4-5b8d-273b-02f1eb044016}">
          <p14:sldIdLst>
            <p14:sldId id="257"/>
          </p14:sldIdLst>
        </p14:section>
        <p14:section name="Existing system" id="{09abb470-b65a-8b8a-359c-6f7d633dbf97}">
          <p14:sldIdLst>
            <p14:sldId id="258"/>
          </p14:sldIdLst>
        </p14:section>
        <p14:section name="Our solution" id="{a4bc6013-e3f8-dcce-87da-cf9c2be9817e}">
          <p14:sldIdLst>
            <p14:sldId id="259"/>
          </p14:sldIdLst>
        </p14:section>
        <p14:section name="Approach" id="{c2a53169-2b3c-ab31-4913-415ddd82c60c}">
          <p14:sldIdLst>
            <p14:sldId id="260"/>
            <p14:sldId id="261"/>
            <p14:sldId id="262"/>
            <p14:sldId id="263"/>
          </p14:sldIdLst>
        </p14:section>
        <p14:section name="Tech stack" id="{bdaf7837-a085-af79-ff11-48317d91b672}">
          <p14:sldIdLst>
            <p14:sldId id="264"/>
            <p14:sldId id="265"/>
          </p14:sldIdLst>
        </p14:section>
        <p14:section name="Conclusion" id="{64a9e19d-e68f-d22c-4ea4-044329e6a639}">
          <p14:sldIdLst>
            <p14:sldId id="266"/>
          </p14:sldIdLst>
        </p14:section>
        <p14:section name="Scope and limitations" id="{99eb1184-ca46-035b-afaa-5d8173779b8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Shravani. This is Pravasa, which means 'journey' in Kannada: an AI travel planner for Karnataka that understands Kannada and English, by voice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Karnataka has amazing variety, but planning a trip means juggling many English-only tools. Kannada-first travellers, first-time visitors and budget travellers suffer most: wrong seasons, unrealistic routes and missed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people use Google Maps, booking sites, blogs and general AI chatbots. Each helps a bit, but none plans a realistic multi-day trip in Kannada, and chatbots can even invent places or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Pravasa takes voice or text in Kannada or English, plans only from verified places, uses real road distances, checks weather and season, estimates costs against your budget, and gives you audio and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has five steps: ask, understand, plan, enrich and deliver. The key choice is that the AI handles language, while the trip is planned by my own algorithm over a verified list of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design decisions make Pravasa reliable and fast: AI only for language, verified places, a single AI call for voice, parallel loading, fallbacks so it never gets stuck, and Kannada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You can speak, type or tap an example. One tap switches the whole site to Kannada.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trip you get a route map, a day-by-day plan with photos, weather and season tips, transport options, hotels, nearby places, costs against your budget, a trip story you can listen to, and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Pravasa is built in Python with Streamlit. Gemini handles language. Maps use OpenStreetMap and OSRM, content comes from Wikipedia, weather from Open-Meteo and hotels from OpenStreetMap. gTTS speaks Kannada and fpdf2 writes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traveller's request goes to the Streamlit pages. ai.py asks Gemini to turn it into settings, planner.py builds the trip from our 55-place dataset, and the enrichment modules fetch routes, photos, weather and hotels from free services in parallel. The results come back as a map, plan, audio and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Pravasa plans realistic Karnataka trips in Kannada or English, for free. It helps Kannada-first travellers and spreads tourism to lesser-known places. Next I would add more places, live bus and train timings, offline mode and more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scope: Pravasa currently covers 55 selected places and 32 starting cities. Costs and weather beyond 16 days are estimates, hotel data may be incomplete, and it is an independent student project.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V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658368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V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Pravasa · AI Travel Planner for Karnataka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V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188720"/>
          </a:xfrm>
          <a:prstGeom prst="rect">
            <a:avLst/>
          </a:prstGeom>
          <a:noFill/>
          <a:ln/>
        </p:spPr>
        <p:txBody>
          <a:bodyPr wrap="square" lIns="0" tIns="0" rIns="0" bIns="0" rtlCol="0" anchor="b"/>
          <a:lstStyle/>
          <a:p>
            <a:pPr algn="l" indent="0" marL="0">
              <a:buNone/>
            </a:pPr>
            <a:r>
              <a:rPr lang="en-US" sz="5400" b="1" dirty="0">
                <a:solidFill>
                  <a:schemeClr val="bg1"/>
                </a:solidFill>
              </a:rPr>
              <a:t>Pravasa  </a:t>
            </a:r>
            <a:pPr algn="l" indent="0" marL="0">
              <a:buNone/>
            </a:pPr>
            <a:r>
              <a:rPr lang="en-US" sz="5400" b="1" dirty="0">
                <a:solidFill>
                  <a:schemeClr val="bg1"/>
                </a:solidFill>
                <a:latin typeface="Nirmala UI" pitchFamily="34" charset="0"/>
                <a:ea typeface="Nirmala UI" pitchFamily="34" charset="-122"/>
                <a:cs typeface="Nirmala UI" pitchFamily="34" charset="-120"/>
              </a:rPr>
              <a:t>ಪ್ರವಾಸ</a:t>
            </a:r>
            <a:endParaRPr lang="en-US" sz="5400" dirty="0"/>
          </a:p>
        </p:txBody>
      </p:sp>
      <p:sp>
        <p:nvSpPr>
          <p:cNvPr id="3" name="Text 0"/>
          <p:cNvSpPr/>
          <p:nvPr>
            <p:ph idx="101" type="body" hasCustomPrompt="1"/>
          </p:nvPr>
        </p:nvSpPr>
        <p:spPr>
          <a:xfrm>
            <a:off x="731520" y="3429000"/>
            <a:ext cx="6583680" cy="1097280"/>
          </a:xfrm>
          <a:prstGeom prst="rect">
            <a:avLst/>
          </a:prstGeom>
          <a:noFill/>
          <a:ln/>
        </p:spPr>
        <p:txBody>
          <a:bodyPr wrap="square" lIns="0" tIns="0" rIns="0" bIns="0" rtlCol="0" anchor="t"/>
          <a:lstStyle/>
          <a:p>
            <a:pPr algn="l" indent="0" marL="0">
              <a:buNone/>
            </a:pPr>
            <a:r>
              <a:rPr lang="en-US" sz="2000" dirty="0">
                <a:solidFill>
                  <a:schemeClr val="bg1"/>
                </a:solidFill>
              </a:rPr>
              <a:t>An AI travel planner for Karnataka. Speak or type your trip in Kannada or English and get a complete, mapped, costed plan.</a:t>
            </a:r>
            <a:endParaRPr lang="en-US" sz="2000" dirty="0"/>
          </a:p>
        </p:txBody>
      </p:sp>
      <p:sp>
        <p:nvSpPr>
          <p:cNvPr id="4" name="Text 2"/>
          <p:cNvSpPr txBox="1"/>
          <p:nvPr/>
        </p:nvSpPr>
        <p:spPr>
          <a:xfrm>
            <a:off x="731520" y="5074920"/>
            <a:ext cx="6583680" cy="100584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Shravani Yalagatti</a:t>
            </a:r>
            <a:endParaRPr lang="en-US" sz="1500" dirty="0"/>
          </a:p>
          <a:p>
            <a:pPr indent="0" marL="0">
              <a:spcAft>
                <a:spcPts val="400"/>
              </a:spcAft>
              <a:buNone/>
            </a:pPr>
            <a:r>
              <a:rPr lang="en-US" sz="1500" dirty="0">
                <a:solidFill>
                  <a:schemeClr val="bg2"/>
                </a:solidFill>
              </a:rPr>
              <a:t>Computer Science &amp; Business Systems, JSPM's RSCOE, Pune</a:t>
            </a:r>
            <a:endParaRPr lang="en-US" sz="1500" dirty="0"/>
          </a:p>
          <a:p>
            <a:pPr indent="0" marL="0">
              <a:spcAft>
                <a:spcPts val="400"/>
              </a:spcAft>
              <a:buNone/>
            </a:pPr>
            <a:r>
              <a:rPr lang="en-US" sz="1500" dirty="0">
                <a:solidFill>
                  <a:schemeClr val="bg2"/>
                </a:solidFill>
              </a:rPr>
              <a:t>github.com/shravanisy2006/Pravasa</a:t>
            </a:r>
            <a:endParaRPr lang="en-US" sz="1500" dirty="0"/>
          </a:p>
        </p:txBody>
      </p:sp>
      <p:sp>
        <p:nvSpPr>
          <p:cNvPr id="5" name="Logo disc"/>
          <p:cNvSpPr/>
          <p:nvPr/>
        </p:nvSpPr>
        <p:spPr>
          <a:xfrm>
            <a:off x="8001000" y="1325880"/>
            <a:ext cx="3749040" cy="3749040"/>
          </a:xfrm>
          <a:prstGeom prst="ellipse">
            <a:avLst/>
          </a:prstGeom>
          <a:solidFill>
            <a:schemeClr val="bg1"/>
          </a:solidFill>
          <a:ln w="76200">
            <a:solidFill>
              <a:schemeClr val="accent2"/>
            </a:solidFill>
            <a:prstDash val="solid"/>
          </a:ln>
        </p:spPr>
      </p:sp>
      <p:pic>
        <p:nvPicPr>
          <p:cNvPr id="6" name="Logo" descr="Pravasa logo">    </p:cNvPr>
          <p:cNvPicPr>
            <a:picLocks noChangeAspect="1"/>
          </p:cNvPicPr>
          <p:nvPr/>
        </p:nvPicPr>
        <p:blipFill>
          <a:blip r:embed="rId1"/>
          <a:stretch>
            <a:fillRect/>
          </a:stretch>
        </p:blipFill>
        <p:spPr>
          <a:xfrm>
            <a:off x="8641080" y="2121408"/>
            <a:ext cx="2468880" cy="20665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Problem: planning a Karnataka trip is hard</a:t>
            </a:r>
            <a:endParaRPr lang="en-US" sz="3400" dirty="0"/>
          </a:p>
        </p:txBody>
      </p:sp>
      <p:sp>
        <p:nvSpPr>
          <p:cNvPr id="3" name="Text 1"/>
          <p:cNvSpPr txBox="1"/>
          <p:nvPr/>
        </p:nvSpPr>
        <p:spPr>
          <a:xfrm>
            <a:off x="548640" y="1417320"/>
            <a:ext cx="5120640" cy="365760"/>
          </a:xfrm>
          <a:prstGeom prst="rect">
            <a:avLst/>
          </a:prstGeom>
          <a:noFill/>
          <a:ln/>
        </p:spPr>
        <p:txBody>
          <a:bodyPr wrap="square" lIns="0" tIns="0" rIns="0" bIns="0" rtlCol="0" anchor="t"/>
          <a:lstStyle/>
          <a:p>
            <a:pPr indent="0" marL="0">
              <a:buNone/>
            </a:pPr>
            <a:r>
              <a:rPr lang="en-US" sz="2000" b="1" dirty="0">
                <a:solidFill>
                  <a:schemeClr val="accent1"/>
                </a:solidFill>
              </a:rPr>
              <a:t>The problem</a:t>
            </a:r>
            <a:endParaRPr lang="en-US" sz="2000" dirty="0"/>
          </a:p>
        </p:txBody>
      </p:sp>
      <p:sp>
        <p:nvSpPr>
          <p:cNvPr id="4" name="Text 2"/>
          <p:cNvSpPr txBox="1"/>
          <p:nvPr/>
        </p:nvSpPr>
        <p:spPr>
          <a:xfrm>
            <a:off x="548640" y="1828800"/>
            <a:ext cx="5120640" cy="1737360"/>
          </a:xfrm>
          <a:prstGeom prst="rect">
            <a:avLst/>
          </a:prstGeom>
          <a:noFill/>
          <a:ln/>
        </p:spPr>
        <p:txBody>
          <a:bodyPr wrap="square" lIns="0" tIns="0" rIns="0" bIns="0" rtlCol="0" anchor="t"/>
          <a:lstStyle/>
          <a:p>
            <a:pPr indent="0" marL="0">
              <a:buNone/>
            </a:pPr>
            <a:r>
              <a:rPr lang="en-US" sz="1600" dirty="0">
                <a:solidFill>
                  <a:schemeClr val="tx1"/>
                </a:solidFill>
              </a:rPr>
              <a:t>Karnataka's heritage sites, coast, Malnad hills and wildlife parks are spread across 31 districts. Planning a trip means juggling maps, blogs, weather sites and booking apps, almost all of them in English.</a:t>
            </a:r>
            <a:endParaRPr lang="en-US" sz="1600" dirty="0"/>
          </a:p>
        </p:txBody>
      </p:sp>
      <p:sp>
        <p:nvSpPr>
          <p:cNvPr id="5" name="Text 3"/>
          <p:cNvSpPr txBox="1"/>
          <p:nvPr/>
        </p:nvSpPr>
        <p:spPr>
          <a:xfrm>
            <a:off x="548640" y="3703320"/>
            <a:ext cx="5120640" cy="365760"/>
          </a:xfrm>
          <a:prstGeom prst="rect">
            <a:avLst/>
          </a:prstGeom>
          <a:noFill/>
          <a:ln/>
        </p:spPr>
        <p:txBody>
          <a:bodyPr wrap="square" lIns="0" tIns="0" rIns="0" bIns="0" rtlCol="0" anchor="t"/>
          <a:lstStyle/>
          <a:p>
            <a:pPr indent="0" marL="0">
              <a:buNone/>
            </a:pPr>
            <a:r>
              <a:rPr lang="en-US" sz="2000" b="1" dirty="0">
                <a:solidFill>
                  <a:schemeClr val="accent1"/>
                </a:solidFill>
              </a:rPr>
              <a:t>Why it matters</a:t>
            </a:r>
            <a:endParaRPr lang="en-US" sz="2000" dirty="0"/>
          </a:p>
        </p:txBody>
      </p:sp>
      <p:sp>
        <p:nvSpPr>
          <p:cNvPr id="6" name="Text 4"/>
          <p:cNvSpPr txBox="1"/>
          <p:nvPr/>
        </p:nvSpPr>
        <p:spPr>
          <a:xfrm>
            <a:off x="548640" y="4114800"/>
            <a:ext cx="51206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Wrong season: a monsoon-rough coast, or Hampi at 38°C</a:t>
            </a:r>
            <a:endParaRPr lang="en-US" sz="1600" dirty="0"/>
          </a:p>
          <a:p>
            <a:pPr marL="342900" indent="-342900">
              <a:spcAft>
                <a:spcPts val="800"/>
              </a:spcAft>
              <a:buSzPct val="100000"/>
              <a:buChar char="•"/>
            </a:pPr>
            <a:r>
              <a:rPr lang="en-US" sz="1600" dirty="0">
                <a:solidFill>
                  <a:schemeClr val="tx1"/>
                </a:solidFill>
              </a:rPr>
              <a:t>Unrealistic routes waste a day of driving</a:t>
            </a:r>
            <a:endParaRPr lang="en-US" sz="1600" dirty="0"/>
          </a:p>
          <a:p>
            <a:pPr marL="342900" indent="-342900">
              <a:spcAft>
                <a:spcPts val="800"/>
              </a:spcAft>
              <a:buSzPct val="100000"/>
              <a:buChar char="•"/>
            </a:pPr>
            <a:r>
              <a:rPr lang="en-US" sz="1600" dirty="0">
                <a:solidFill>
                  <a:schemeClr val="tx1"/>
                </a:solidFill>
              </a:rPr>
              <a:t>Lesser-known places are missed, so local economies lose out</a:t>
            </a:r>
            <a:endParaRPr lang="en-US" sz="1600" dirty="0"/>
          </a:p>
        </p:txBody>
      </p:sp>
      <p:sp>
        <p:nvSpPr>
          <p:cNvPr id="7" name="Text 5"/>
          <p:cNvSpPr txBox="1"/>
          <p:nvPr/>
        </p:nvSpPr>
        <p:spPr>
          <a:xfrm>
            <a:off x="6309360" y="1417320"/>
            <a:ext cx="5303520" cy="365760"/>
          </a:xfrm>
          <a:prstGeom prst="rect">
            <a:avLst/>
          </a:prstGeom>
          <a:noFill/>
          <a:ln/>
        </p:spPr>
        <p:txBody>
          <a:bodyPr wrap="square" lIns="0" tIns="0" rIns="0" bIns="0" rtlCol="0" anchor="t"/>
          <a:lstStyle/>
          <a:p>
            <a:pPr indent="0" marL="0">
              <a:buNone/>
            </a:pPr>
            <a:r>
              <a:rPr lang="en-US" sz="2000" b="1" dirty="0">
                <a:solidFill>
                  <a:schemeClr val="accent1"/>
                </a:solidFill>
              </a:rPr>
              <a:t>Who is affected</a:t>
            </a:r>
            <a:endParaRPr lang="en-US" sz="2000" dirty="0"/>
          </a:p>
        </p:txBody>
      </p:sp>
      <p:sp>
        <p:nvSpPr>
          <p:cNvPr id="8" name="Affected group card 1"/>
          <p:cNvSpPr/>
          <p:nvPr/>
        </p:nvSpPr>
        <p:spPr>
          <a:xfrm>
            <a:off x="6309360" y="1874520"/>
            <a:ext cx="5303520" cy="1280160"/>
          </a:xfrm>
          <a:prstGeom prst="roundRect">
            <a:avLst>
              <a:gd name="adj" fmla="val 8571"/>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9" name="Kannada-first travellers circle"/>
          <p:cNvSpPr/>
          <p:nvPr/>
        </p:nvSpPr>
        <p:spPr>
          <a:xfrm>
            <a:off x="6537960" y="2148840"/>
            <a:ext cx="731520" cy="731520"/>
          </a:xfrm>
          <a:prstGeom prst="ellipse">
            <a:avLst/>
          </a:prstGeom>
          <a:solidFill>
            <a:schemeClr val="accent1"/>
          </a:solidFill>
          <a:ln/>
        </p:spPr>
      </p:sp>
      <p:pic>
        <p:nvPicPr>
          <p:cNvPr id="10" name="Kannada-first travellers icon" descr="Kannada-first travellers">    </p:cNvPr>
          <p:cNvPicPr>
            <a:picLocks noChangeAspect="1"/>
          </p:cNvPicPr>
          <p:nvPr/>
        </p:nvPicPr>
        <p:blipFill>
          <a:blip r:embed="rId1"/>
          <a:stretch>
            <a:fillRect/>
          </a:stretch>
        </p:blipFill>
        <p:spPr>
          <a:xfrm>
            <a:off x="6720840" y="2331720"/>
            <a:ext cx="365760" cy="365760"/>
          </a:xfrm>
          <a:prstGeom prst="rect">
            <a:avLst/>
          </a:prstGeom>
        </p:spPr>
      </p:pic>
      <p:sp>
        <p:nvSpPr>
          <p:cNvPr id="11" name="Text 8"/>
          <p:cNvSpPr txBox="1"/>
          <p:nvPr/>
        </p:nvSpPr>
        <p:spPr>
          <a:xfrm>
            <a:off x="7498080" y="2075688"/>
            <a:ext cx="3931920" cy="365760"/>
          </a:xfrm>
          <a:prstGeom prst="rect">
            <a:avLst/>
          </a:prstGeom>
          <a:noFill/>
          <a:ln/>
        </p:spPr>
        <p:txBody>
          <a:bodyPr wrap="square" lIns="0" tIns="0" rIns="0" bIns="0" rtlCol="0" anchor="t"/>
          <a:lstStyle/>
          <a:p>
            <a:pPr indent="0" marL="0">
              <a:buNone/>
            </a:pPr>
            <a:r>
              <a:rPr lang="en-US" sz="1700" b="1" dirty="0">
                <a:solidFill>
                  <a:schemeClr val="tx1"/>
                </a:solidFill>
              </a:rPr>
              <a:t>Kannada-first travellers</a:t>
            </a:r>
            <a:endParaRPr lang="en-US" sz="1700" dirty="0"/>
          </a:p>
        </p:txBody>
      </p:sp>
      <p:sp>
        <p:nvSpPr>
          <p:cNvPr id="12" name="Text 9"/>
          <p:cNvSpPr txBox="1"/>
          <p:nvPr/>
        </p:nvSpPr>
        <p:spPr>
          <a:xfrm>
            <a:off x="7498080" y="2441448"/>
            <a:ext cx="3931920" cy="640080"/>
          </a:xfrm>
          <a:prstGeom prst="rect">
            <a:avLst/>
          </a:prstGeom>
          <a:noFill/>
          <a:ln/>
        </p:spPr>
        <p:txBody>
          <a:bodyPr wrap="square" lIns="0" tIns="0" rIns="0" bIns="0" rtlCol="0" anchor="t"/>
          <a:lstStyle/>
          <a:p>
            <a:pPr indent="0" marL="0">
              <a:buNone/>
            </a:pPr>
            <a:r>
              <a:rPr lang="en-US" sz="1400" dirty="0">
                <a:solidFill>
                  <a:schemeClr val="accent3"/>
                </a:solidFill>
              </a:rPr>
              <a:t>Elders and families from smaller towns who find English-only apps hard to use</a:t>
            </a:r>
            <a:endParaRPr lang="en-US" sz="1400" dirty="0"/>
          </a:p>
        </p:txBody>
      </p:sp>
      <p:sp>
        <p:nvSpPr>
          <p:cNvPr id="13" name="Affected group card 2"/>
          <p:cNvSpPr/>
          <p:nvPr/>
        </p:nvSpPr>
        <p:spPr>
          <a:xfrm>
            <a:off x="6309360" y="3337560"/>
            <a:ext cx="5303520" cy="1280160"/>
          </a:xfrm>
          <a:prstGeom prst="roundRect">
            <a:avLst>
              <a:gd name="adj" fmla="val 8571"/>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4" name="First-time visitors circle"/>
          <p:cNvSpPr/>
          <p:nvPr/>
        </p:nvSpPr>
        <p:spPr>
          <a:xfrm>
            <a:off x="6537960" y="3611880"/>
            <a:ext cx="731520" cy="731520"/>
          </a:xfrm>
          <a:prstGeom prst="ellipse">
            <a:avLst/>
          </a:prstGeom>
          <a:solidFill>
            <a:schemeClr val="accent1"/>
          </a:solidFill>
          <a:ln/>
        </p:spPr>
      </p:sp>
      <p:pic>
        <p:nvPicPr>
          <p:cNvPr id="15" name="First-time visitors icon" descr="First-time visitors">    </p:cNvPr>
          <p:cNvPicPr>
            <a:picLocks noChangeAspect="1"/>
          </p:cNvPicPr>
          <p:nvPr/>
        </p:nvPicPr>
        <p:blipFill>
          <a:blip r:embed="rId2"/>
          <a:stretch>
            <a:fillRect/>
          </a:stretch>
        </p:blipFill>
        <p:spPr>
          <a:xfrm>
            <a:off x="6720840" y="3794760"/>
            <a:ext cx="365760" cy="365760"/>
          </a:xfrm>
          <a:prstGeom prst="rect">
            <a:avLst/>
          </a:prstGeom>
        </p:spPr>
      </p:pic>
      <p:sp>
        <p:nvSpPr>
          <p:cNvPr id="16" name="Text 12"/>
          <p:cNvSpPr txBox="1"/>
          <p:nvPr/>
        </p:nvSpPr>
        <p:spPr>
          <a:xfrm>
            <a:off x="7498080" y="3538728"/>
            <a:ext cx="3931920" cy="365760"/>
          </a:xfrm>
          <a:prstGeom prst="rect">
            <a:avLst/>
          </a:prstGeom>
          <a:noFill/>
          <a:ln/>
        </p:spPr>
        <p:txBody>
          <a:bodyPr wrap="square" lIns="0" tIns="0" rIns="0" bIns="0" rtlCol="0" anchor="t"/>
          <a:lstStyle/>
          <a:p>
            <a:pPr indent="0" marL="0">
              <a:buNone/>
            </a:pPr>
            <a:r>
              <a:rPr lang="en-US" sz="1700" b="1" dirty="0">
                <a:solidFill>
                  <a:schemeClr val="tx1"/>
                </a:solidFill>
              </a:rPr>
              <a:t>First-time visitors</a:t>
            </a:r>
            <a:endParaRPr lang="en-US" sz="1700" dirty="0"/>
          </a:p>
        </p:txBody>
      </p:sp>
      <p:sp>
        <p:nvSpPr>
          <p:cNvPr id="17" name="Text 13"/>
          <p:cNvSpPr txBox="1"/>
          <p:nvPr/>
        </p:nvSpPr>
        <p:spPr>
          <a:xfrm>
            <a:off x="7498080" y="3904488"/>
            <a:ext cx="3931920" cy="640080"/>
          </a:xfrm>
          <a:prstGeom prst="rect">
            <a:avLst/>
          </a:prstGeom>
          <a:noFill/>
          <a:ln/>
        </p:spPr>
        <p:txBody>
          <a:bodyPr wrap="square" lIns="0" tIns="0" rIns="0" bIns="0" rtlCol="0" anchor="t"/>
          <a:lstStyle/>
          <a:p>
            <a:pPr indent="0" marL="0">
              <a:buNone/>
            </a:pPr>
            <a:r>
              <a:rPr lang="en-US" sz="1400" dirty="0">
                <a:solidFill>
                  <a:schemeClr val="accent3"/>
                </a:solidFill>
              </a:rPr>
              <a:t>Don't know distances, best seasons or what is near what</a:t>
            </a:r>
            <a:endParaRPr lang="en-US" sz="1400" dirty="0"/>
          </a:p>
        </p:txBody>
      </p:sp>
      <p:sp>
        <p:nvSpPr>
          <p:cNvPr id="18" name="Affected group card 3"/>
          <p:cNvSpPr/>
          <p:nvPr/>
        </p:nvSpPr>
        <p:spPr>
          <a:xfrm>
            <a:off x="6309360" y="4800600"/>
            <a:ext cx="5303520" cy="1280160"/>
          </a:xfrm>
          <a:prstGeom prst="roundRect">
            <a:avLst>
              <a:gd name="adj" fmla="val 8571"/>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9" name="Students and budget travellers circle"/>
          <p:cNvSpPr/>
          <p:nvPr/>
        </p:nvSpPr>
        <p:spPr>
          <a:xfrm>
            <a:off x="6537960" y="5074920"/>
            <a:ext cx="731520" cy="731520"/>
          </a:xfrm>
          <a:prstGeom prst="ellipse">
            <a:avLst/>
          </a:prstGeom>
          <a:solidFill>
            <a:schemeClr val="accent1"/>
          </a:solidFill>
          <a:ln/>
        </p:spPr>
      </p:sp>
      <p:pic>
        <p:nvPicPr>
          <p:cNvPr id="20" name="Students and budget travellers icon" descr="Students and budget travellers">    </p:cNvPr>
          <p:cNvPicPr>
            <a:picLocks noChangeAspect="1"/>
          </p:cNvPicPr>
          <p:nvPr/>
        </p:nvPicPr>
        <p:blipFill>
          <a:blip r:embed="rId3"/>
          <a:stretch>
            <a:fillRect/>
          </a:stretch>
        </p:blipFill>
        <p:spPr>
          <a:xfrm>
            <a:off x="6720840" y="5257800"/>
            <a:ext cx="365760" cy="365760"/>
          </a:xfrm>
          <a:prstGeom prst="rect">
            <a:avLst/>
          </a:prstGeom>
        </p:spPr>
      </p:pic>
      <p:sp>
        <p:nvSpPr>
          <p:cNvPr id="21" name="Text 16"/>
          <p:cNvSpPr txBox="1"/>
          <p:nvPr/>
        </p:nvSpPr>
        <p:spPr>
          <a:xfrm>
            <a:off x="7498080" y="5001768"/>
            <a:ext cx="3931920" cy="365760"/>
          </a:xfrm>
          <a:prstGeom prst="rect">
            <a:avLst/>
          </a:prstGeom>
          <a:noFill/>
          <a:ln/>
        </p:spPr>
        <p:txBody>
          <a:bodyPr wrap="square" lIns="0" tIns="0" rIns="0" bIns="0" rtlCol="0" anchor="t"/>
          <a:lstStyle/>
          <a:p>
            <a:pPr indent="0" marL="0">
              <a:buNone/>
            </a:pPr>
            <a:r>
              <a:rPr lang="en-US" sz="1700" b="1" dirty="0">
                <a:solidFill>
                  <a:schemeClr val="tx1"/>
                </a:solidFill>
              </a:rPr>
              <a:t>Students and budget travellers</a:t>
            </a:r>
            <a:endParaRPr lang="en-US" sz="1700" dirty="0"/>
          </a:p>
        </p:txBody>
      </p:sp>
      <p:sp>
        <p:nvSpPr>
          <p:cNvPr id="22" name="Text 17"/>
          <p:cNvSpPr txBox="1"/>
          <p:nvPr/>
        </p:nvSpPr>
        <p:spPr>
          <a:xfrm>
            <a:off x="7498080" y="5367528"/>
            <a:ext cx="3931920" cy="640080"/>
          </a:xfrm>
          <a:prstGeom prst="rect">
            <a:avLst/>
          </a:prstGeom>
          <a:noFill/>
          <a:ln/>
        </p:spPr>
        <p:txBody>
          <a:bodyPr wrap="square" lIns="0" tIns="0" rIns="0" bIns="0" rtlCol="0" anchor="t"/>
          <a:lstStyle/>
          <a:p>
            <a:pPr indent="0" marL="0">
              <a:buNone/>
            </a:pPr>
            <a:r>
              <a:rPr lang="en-US" sz="1400" dirty="0">
                <a:solidFill>
                  <a:schemeClr val="accent3"/>
                </a:solidFill>
              </a:rPr>
              <a:t>Need a realistic cost before they set out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Existing system: four tools, none of them a planner</a:t>
            </a:r>
            <a:endParaRPr lang="en-US" sz="3400" dirty="0"/>
          </a:p>
        </p:txBody>
      </p:sp>
      <p:sp>
        <p:nvSpPr>
          <p:cNvPr id="3" name="Existing tool card 1"/>
          <p:cNvSpPr/>
          <p:nvPr/>
        </p:nvSpPr>
        <p:spPr>
          <a:xfrm>
            <a:off x="548640" y="1417320"/>
            <a:ext cx="2633472" cy="3794760"/>
          </a:xfrm>
          <a:prstGeom prst="roundRect">
            <a:avLst>
              <a:gd name="adj" fmla="val 4167"/>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4" name="Google Maps circle"/>
          <p:cNvSpPr/>
          <p:nvPr/>
        </p:nvSpPr>
        <p:spPr>
          <a:xfrm>
            <a:off x="777240" y="1645920"/>
            <a:ext cx="685800" cy="685800"/>
          </a:xfrm>
          <a:prstGeom prst="ellipse">
            <a:avLst/>
          </a:prstGeom>
          <a:solidFill>
            <a:schemeClr val="accent1"/>
          </a:solidFill>
          <a:ln/>
        </p:spPr>
      </p:sp>
      <p:pic>
        <p:nvPicPr>
          <p:cNvPr id="5" name="Google Maps icon" descr="Google Maps">    </p:cNvPr>
          <p:cNvPicPr>
            <a:picLocks noChangeAspect="1"/>
          </p:cNvPicPr>
          <p:nvPr/>
        </p:nvPicPr>
        <p:blipFill>
          <a:blip r:embed="rId1"/>
          <a:stretch>
            <a:fillRect/>
          </a:stretch>
        </p:blipFill>
        <p:spPr>
          <a:xfrm>
            <a:off x="948690" y="1817370"/>
            <a:ext cx="342900" cy="342900"/>
          </a:xfrm>
          <a:prstGeom prst="rect">
            <a:avLst/>
          </a:prstGeom>
        </p:spPr>
      </p:pic>
      <p:sp>
        <p:nvSpPr>
          <p:cNvPr id="6" name="Text 3"/>
          <p:cNvSpPr txBox="1"/>
          <p:nvPr/>
        </p:nvSpPr>
        <p:spPr>
          <a:xfrm>
            <a:off x="777240" y="246888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Google Maps</a:t>
            </a:r>
            <a:endParaRPr lang="en-US" sz="1800" dirty="0"/>
          </a:p>
        </p:txBody>
      </p:sp>
      <p:sp>
        <p:nvSpPr>
          <p:cNvPr id="7" name="Text 4"/>
          <p:cNvSpPr txBox="1"/>
          <p:nvPr/>
        </p:nvSpPr>
        <p:spPr>
          <a:xfrm>
            <a:off x="777240" y="320040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What it does</a:t>
            </a:r>
            <a:endParaRPr lang="en-US" sz="1200" dirty="0"/>
          </a:p>
        </p:txBody>
      </p:sp>
      <p:sp>
        <p:nvSpPr>
          <p:cNvPr id="8" name="Text 5"/>
          <p:cNvSpPr txBox="1"/>
          <p:nvPr/>
        </p:nvSpPr>
        <p:spPr>
          <a:xfrm>
            <a:off x="777240" y="3474720"/>
            <a:ext cx="2194560" cy="594360"/>
          </a:xfrm>
          <a:prstGeom prst="rect">
            <a:avLst/>
          </a:prstGeom>
          <a:noFill/>
          <a:ln/>
        </p:spPr>
        <p:txBody>
          <a:bodyPr wrap="square" lIns="0" tIns="0" rIns="0" bIns="0" rtlCol="0" anchor="t"/>
          <a:lstStyle/>
          <a:p>
            <a:pPr indent="0" marL="0">
              <a:buNone/>
            </a:pPr>
            <a:r>
              <a:rPr lang="en-US" sz="1400" dirty="0">
                <a:solidFill>
                  <a:schemeClr val="tx1"/>
                </a:solidFill>
              </a:rPr>
              <a:t>Routes and reviews for one place at a time</a:t>
            </a:r>
            <a:endParaRPr lang="en-US" sz="1400" dirty="0"/>
          </a:p>
        </p:txBody>
      </p:sp>
      <p:sp>
        <p:nvSpPr>
          <p:cNvPr id="9" name="Text 6"/>
          <p:cNvSpPr txBox="1"/>
          <p:nvPr/>
        </p:nvSpPr>
        <p:spPr>
          <a:xfrm>
            <a:off x="777240" y="41148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The gap</a:t>
            </a:r>
            <a:endParaRPr lang="en-US" sz="1200" dirty="0"/>
          </a:p>
        </p:txBody>
      </p:sp>
      <p:sp>
        <p:nvSpPr>
          <p:cNvPr id="10" name="Text 7"/>
          <p:cNvSpPr txBox="1"/>
          <p:nvPr/>
        </p:nvSpPr>
        <p:spPr>
          <a:xfrm>
            <a:off x="777240" y="4389120"/>
            <a:ext cx="2194560" cy="777240"/>
          </a:xfrm>
          <a:prstGeom prst="rect">
            <a:avLst/>
          </a:prstGeom>
          <a:noFill/>
          <a:ln/>
        </p:spPr>
        <p:txBody>
          <a:bodyPr wrap="square" lIns="0" tIns="0" rIns="0" bIns="0" rtlCol="0" anchor="t"/>
          <a:lstStyle/>
          <a:p>
            <a:pPr indent="0" marL="0">
              <a:buNone/>
            </a:pPr>
            <a:r>
              <a:rPr lang="en-US" sz="1400" dirty="0">
                <a:solidFill>
                  <a:schemeClr val="tx1"/>
                </a:solidFill>
              </a:rPr>
              <a:t>Doesn't build a multi-day trip or warn about the season</a:t>
            </a:r>
            <a:endParaRPr lang="en-US" sz="1400" dirty="0"/>
          </a:p>
        </p:txBody>
      </p:sp>
      <p:sp>
        <p:nvSpPr>
          <p:cNvPr id="11" name="Existing tool card 2"/>
          <p:cNvSpPr/>
          <p:nvPr/>
        </p:nvSpPr>
        <p:spPr>
          <a:xfrm>
            <a:off x="3364992" y="1417320"/>
            <a:ext cx="2633472" cy="3794760"/>
          </a:xfrm>
          <a:prstGeom prst="roundRect">
            <a:avLst>
              <a:gd name="adj" fmla="val 4167"/>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2" name="Booking sites and agencies circle"/>
          <p:cNvSpPr/>
          <p:nvPr/>
        </p:nvSpPr>
        <p:spPr>
          <a:xfrm>
            <a:off x="3593592" y="1645920"/>
            <a:ext cx="685800" cy="685800"/>
          </a:xfrm>
          <a:prstGeom prst="ellipse">
            <a:avLst/>
          </a:prstGeom>
          <a:solidFill>
            <a:schemeClr val="accent1"/>
          </a:solidFill>
          <a:ln/>
        </p:spPr>
      </p:sp>
      <p:pic>
        <p:nvPicPr>
          <p:cNvPr id="13" name="Booking sites and agencies icon" descr="Booking sites and agencies">    </p:cNvPr>
          <p:cNvPicPr>
            <a:picLocks noChangeAspect="1"/>
          </p:cNvPicPr>
          <p:nvPr/>
        </p:nvPicPr>
        <p:blipFill>
          <a:blip r:embed="rId2"/>
          <a:stretch>
            <a:fillRect/>
          </a:stretch>
        </p:blipFill>
        <p:spPr>
          <a:xfrm>
            <a:off x="3765042" y="1817370"/>
            <a:ext cx="342900" cy="342900"/>
          </a:xfrm>
          <a:prstGeom prst="rect">
            <a:avLst/>
          </a:prstGeom>
        </p:spPr>
      </p:pic>
      <p:sp>
        <p:nvSpPr>
          <p:cNvPr id="14" name="Text 10"/>
          <p:cNvSpPr txBox="1"/>
          <p:nvPr/>
        </p:nvSpPr>
        <p:spPr>
          <a:xfrm>
            <a:off x="3593592" y="246888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Booking sites and agencies</a:t>
            </a:r>
            <a:endParaRPr lang="en-US" sz="1800" dirty="0"/>
          </a:p>
        </p:txBody>
      </p:sp>
      <p:sp>
        <p:nvSpPr>
          <p:cNvPr id="15" name="Text 11"/>
          <p:cNvSpPr txBox="1"/>
          <p:nvPr/>
        </p:nvSpPr>
        <p:spPr>
          <a:xfrm>
            <a:off x="3593592" y="320040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What it does</a:t>
            </a:r>
            <a:endParaRPr lang="en-US" sz="1200" dirty="0"/>
          </a:p>
        </p:txBody>
      </p:sp>
      <p:sp>
        <p:nvSpPr>
          <p:cNvPr id="16" name="Text 12"/>
          <p:cNvSpPr txBox="1"/>
          <p:nvPr/>
        </p:nvSpPr>
        <p:spPr>
          <a:xfrm>
            <a:off x="3593592" y="3474720"/>
            <a:ext cx="2194560" cy="594360"/>
          </a:xfrm>
          <a:prstGeom prst="rect">
            <a:avLst/>
          </a:prstGeom>
          <a:noFill/>
          <a:ln/>
        </p:spPr>
        <p:txBody>
          <a:bodyPr wrap="square" lIns="0" tIns="0" rIns="0" bIns="0" rtlCol="0" anchor="t"/>
          <a:lstStyle/>
          <a:p>
            <a:pPr indent="0" marL="0">
              <a:buNone/>
            </a:pPr>
            <a:r>
              <a:rPr lang="en-US" sz="1400" dirty="0">
                <a:solidFill>
                  <a:schemeClr val="tx1"/>
                </a:solidFill>
              </a:rPr>
              <a:t>Ready-made tour packages</a:t>
            </a:r>
            <a:endParaRPr lang="en-US" sz="1400" dirty="0"/>
          </a:p>
        </p:txBody>
      </p:sp>
      <p:sp>
        <p:nvSpPr>
          <p:cNvPr id="17" name="Text 13"/>
          <p:cNvSpPr txBox="1"/>
          <p:nvPr/>
        </p:nvSpPr>
        <p:spPr>
          <a:xfrm>
            <a:off x="3593592" y="41148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The gap</a:t>
            </a:r>
            <a:endParaRPr lang="en-US" sz="1200" dirty="0"/>
          </a:p>
        </p:txBody>
      </p:sp>
      <p:sp>
        <p:nvSpPr>
          <p:cNvPr id="18" name="Text 14"/>
          <p:cNvSpPr txBox="1"/>
          <p:nvPr/>
        </p:nvSpPr>
        <p:spPr>
          <a:xfrm>
            <a:off x="3593592" y="4389120"/>
            <a:ext cx="2194560" cy="777240"/>
          </a:xfrm>
          <a:prstGeom prst="rect">
            <a:avLst/>
          </a:prstGeom>
          <a:noFill/>
          <a:ln/>
        </p:spPr>
        <p:txBody>
          <a:bodyPr wrap="square" lIns="0" tIns="0" rIns="0" bIns="0" rtlCol="0" anchor="t"/>
          <a:lstStyle/>
          <a:p>
            <a:pPr indent="0" marL="0">
              <a:buNone/>
            </a:pPr>
            <a:r>
              <a:rPr lang="en-US" sz="1400" dirty="0">
                <a:solidFill>
                  <a:schemeClr val="tx1"/>
                </a:solidFill>
              </a:rPr>
              <a:t>Fixed, costly and mostly in English</a:t>
            </a:r>
            <a:endParaRPr lang="en-US" sz="1400" dirty="0"/>
          </a:p>
        </p:txBody>
      </p:sp>
      <p:sp>
        <p:nvSpPr>
          <p:cNvPr id="19" name="Existing tool card 3"/>
          <p:cNvSpPr/>
          <p:nvPr/>
        </p:nvSpPr>
        <p:spPr>
          <a:xfrm>
            <a:off x="6181344" y="1417320"/>
            <a:ext cx="2633472" cy="3794760"/>
          </a:xfrm>
          <a:prstGeom prst="roundRect">
            <a:avLst>
              <a:gd name="adj" fmla="val 4167"/>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0" name="Blogs and YouTube circle"/>
          <p:cNvSpPr/>
          <p:nvPr/>
        </p:nvSpPr>
        <p:spPr>
          <a:xfrm>
            <a:off x="6409944" y="1645920"/>
            <a:ext cx="685800" cy="685800"/>
          </a:xfrm>
          <a:prstGeom prst="ellipse">
            <a:avLst/>
          </a:prstGeom>
          <a:solidFill>
            <a:schemeClr val="accent1"/>
          </a:solidFill>
          <a:ln/>
        </p:spPr>
      </p:sp>
      <p:pic>
        <p:nvPicPr>
          <p:cNvPr id="21" name="Blogs and YouTube icon" descr="Blogs and YouTube">    </p:cNvPr>
          <p:cNvPicPr>
            <a:picLocks noChangeAspect="1"/>
          </p:cNvPicPr>
          <p:nvPr/>
        </p:nvPicPr>
        <p:blipFill>
          <a:blip r:embed="rId3"/>
          <a:stretch>
            <a:fillRect/>
          </a:stretch>
        </p:blipFill>
        <p:spPr>
          <a:xfrm>
            <a:off x="6581394" y="1817370"/>
            <a:ext cx="342900" cy="342900"/>
          </a:xfrm>
          <a:prstGeom prst="rect">
            <a:avLst/>
          </a:prstGeom>
        </p:spPr>
      </p:pic>
      <p:sp>
        <p:nvSpPr>
          <p:cNvPr id="22" name="Text 17"/>
          <p:cNvSpPr txBox="1"/>
          <p:nvPr/>
        </p:nvSpPr>
        <p:spPr>
          <a:xfrm>
            <a:off x="6409944" y="246888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Blogs and YouTube</a:t>
            </a:r>
            <a:endParaRPr lang="en-US" sz="1800" dirty="0"/>
          </a:p>
        </p:txBody>
      </p:sp>
      <p:sp>
        <p:nvSpPr>
          <p:cNvPr id="23" name="Text 18"/>
          <p:cNvSpPr txBox="1"/>
          <p:nvPr/>
        </p:nvSpPr>
        <p:spPr>
          <a:xfrm>
            <a:off x="6409944" y="320040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What it does</a:t>
            </a:r>
            <a:endParaRPr lang="en-US" sz="1200" dirty="0"/>
          </a:p>
        </p:txBody>
      </p:sp>
      <p:sp>
        <p:nvSpPr>
          <p:cNvPr id="24" name="Text 19"/>
          <p:cNvSpPr txBox="1"/>
          <p:nvPr/>
        </p:nvSpPr>
        <p:spPr>
          <a:xfrm>
            <a:off x="6409944" y="3474720"/>
            <a:ext cx="2194560" cy="594360"/>
          </a:xfrm>
          <a:prstGeom prst="rect">
            <a:avLst/>
          </a:prstGeom>
          <a:noFill/>
          <a:ln/>
        </p:spPr>
        <p:txBody>
          <a:bodyPr wrap="square" lIns="0" tIns="0" rIns="0" bIns="0" rtlCol="0" anchor="t"/>
          <a:lstStyle/>
          <a:p>
            <a:pPr indent="0" marL="0">
              <a:buNone/>
            </a:pPr>
            <a:r>
              <a:rPr lang="en-US" sz="1400" dirty="0">
                <a:solidFill>
                  <a:schemeClr val="tx1"/>
                </a:solidFill>
              </a:rPr>
              <a:t>Inspiring first-hand trip ideas</a:t>
            </a:r>
            <a:endParaRPr lang="en-US" sz="1400" dirty="0"/>
          </a:p>
        </p:txBody>
      </p:sp>
      <p:sp>
        <p:nvSpPr>
          <p:cNvPr id="25" name="Text 20"/>
          <p:cNvSpPr txBox="1"/>
          <p:nvPr/>
        </p:nvSpPr>
        <p:spPr>
          <a:xfrm>
            <a:off x="6409944" y="41148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The gap</a:t>
            </a:r>
            <a:endParaRPr lang="en-US" sz="1200" dirty="0"/>
          </a:p>
        </p:txBody>
      </p:sp>
      <p:sp>
        <p:nvSpPr>
          <p:cNvPr id="26" name="Text 21"/>
          <p:cNvSpPr txBox="1"/>
          <p:nvPr/>
        </p:nvSpPr>
        <p:spPr>
          <a:xfrm>
            <a:off x="6409944" y="4389120"/>
            <a:ext cx="2194560" cy="777240"/>
          </a:xfrm>
          <a:prstGeom prst="rect">
            <a:avLst/>
          </a:prstGeom>
          <a:noFill/>
          <a:ln/>
        </p:spPr>
        <p:txBody>
          <a:bodyPr wrap="square" lIns="0" tIns="0" rIns="0" bIns="0" rtlCol="0" anchor="t"/>
          <a:lstStyle/>
          <a:p>
            <a:pPr indent="0" marL="0">
              <a:buNone/>
            </a:pPr>
            <a:r>
              <a:rPr lang="en-US" sz="1400" dirty="0">
                <a:solidFill>
                  <a:schemeClr val="tx1"/>
                </a:solidFill>
              </a:rPr>
              <a:t>Scattered and often outdated; hours of research</a:t>
            </a:r>
            <a:endParaRPr lang="en-US" sz="1400" dirty="0"/>
          </a:p>
        </p:txBody>
      </p:sp>
      <p:sp>
        <p:nvSpPr>
          <p:cNvPr id="27" name="Existing tool card 4"/>
          <p:cNvSpPr/>
          <p:nvPr/>
        </p:nvSpPr>
        <p:spPr>
          <a:xfrm>
            <a:off x="8997696" y="1417320"/>
            <a:ext cx="2633472" cy="3794760"/>
          </a:xfrm>
          <a:prstGeom prst="roundRect">
            <a:avLst>
              <a:gd name="adj" fmla="val 4167"/>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8" name="General AI chatbots circle"/>
          <p:cNvSpPr/>
          <p:nvPr/>
        </p:nvSpPr>
        <p:spPr>
          <a:xfrm>
            <a:off x="9226296" y="1645920"/>
            <a:ext cx="685800" cy="685800"/>
          </a:xfrm>
          <a:prstGeom prst="ellipse">
            <a:avLst/>
          </a:prstGeom>
          <a:solidFill>
            <a:schemeClr val="accent1"/>
          </a:solidFill>
          <a:ln/>
        </p:spPr>
      </p:sp>
      <p:pic>
        <p:nvPicPr>
          <p:cNvPr id="29" name="General AI chatbots icon" descr="General AI chatbots">    </p:cNvPr>
          <p:cNvPicPr>
            <a:picLocks noChangeAspect="1"/>
          </p:cNvPicPr>
          <p:nvPr/>
        </p:nvPicPr>
        <p:blipFill>
          <a:blip r:embed="rId4"/>
          <a:stretch>
            <a:fillRect/>
          </a:stretch>
        </p:blipFill>
        <p:spPr>
          <a:xfrm>
            <a:off x="9397746" y="1817370"/>
            <a:ext cx="342900" cy="342900"/>
          </a:xfrm>
          <a:prstGeom prst="rect">
            <a:avLst/>
          </a:prstGeom>
        </p:spPr>
      </p:pic>
      <p:sp>
        <p:nvSpPr>
          <p:cNvPr id="30" name="Text 24"/>
          <p:cNvSpPr txBox="1"/>
          <p:nvPr/>
        </p:nvSpPr>
        <p:spPr>
          <a:xfrm>
            <a:off x="9226296" y="246888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General AI chatbots</a:t>
            </a:r>
            <a:endParaRPr lang="en-US" sz="1800" dirty="0"/>
          </a:p>
        </p:txBody>
      </p:sp>
      <p:sp>
        <p:nvSpPr>
          <p:cNvPr id="31" name="Text 25"/>
          <p:cNvSpPr txBox="1"/>
          <p:nvPr/>
        </p:nvSpPr>
        <p:spPr>
          <a:xfrm>
            <a:off x="9226296" y="3200400"/>
            <a:ext cx="2194560" cy="274320"/>
          </a:xfrm>
          <a:prstGeom prst="rect">
            <a:avLst/>
          </a:prstGeom>
          <a:noFill/>
          <a:ln/>
        </p:spPr>
        <p:txBody>
          <a:bodyPr wrap="square" lIns="0" tIns="0" rIns="0" bIns="0" rtlCol="0" anchor="t"/>
          <a:lstStyle/>
          <a:p>
            <a:pPr indent="0" marL="0">
              <a:buNone/>
            </a:pPr>
            <a:r>
              <a:rPr lang="en-US" sz="1200" b="1" dirty="0">
                <a:solidFill>
                  <a:schemeClr val="accent3"/>
                </a:solidFill>
              </a:rPr>
              <a:t>What it does</a:t>
            </a:r>
            <a:endParaRPr lang="en-US" sz="1200" dirty="0"/>
          </a:p>
        </p:txBody>
      </p:sp>
      <p:sp>
        <p:nvSpPr>
          <p:cNvPr id="32" name="Text 26"/>
          <p:cNvSpPr txBox="1"/>
          <p:nvPr/>
        </p:nvSpPr>
        <p:spPr>
          <a:xfrm>
            <a:off x="9226296" y="3474720"/>
            <a:ext cx="2194560" cy="594360"/>
          </a:xfrm>
          <a:prstGeom prst="rect">
            <a:avLst/>
          </a:prstGeom>
          <a:noFill/>
          <a:ln/>
        </p:spPr>
        <p:txBody>
          <a:bodyPr wrap="square" lIns="0" tIns="0" rIns="0" bIns="0" rtlCol="0" anchor="t"/>
          <a:lstStyle/>
          <a:p>
            <a:pPr indent="0" marL="0">
              <a:buNone/>
            </a:pPr>
            <a:r>
              <a:rPr lang="en-US" sz="1400" dirty="0">
                <a:solidFill>
                  <a:schemeClr val="tx1"/>
                </a:solidFill>
              </a:rPr>
              <a:t>Quick itineraries from a prompt</a:t>
            </a:r>
            <a:endParaRPr lang="en-US" sz="1400" dirty="0"/>
          </a:p>
        </p:txBody>
      </p:sp>
      <p:sp>
        <p:nvSpPr>
          <p:cNvPr id="33" name="Text 27"/>
          <p:cNvSpPr txBox="1"/>
          <p:nvPr/>
        </p:nvSpPr>
        <p:spPr>
          <a:xfrm>
            <a:off x="9226296" y="4114800"/>
            <a:ext cx="2194560" cy="274320"/>
          </a:xfrm>
          <a:prstGeom prst="rect">
            <a:avLst/>
          </a:prstGeom>
          <a:noFill/>
          <a:ln/>
        </p:spPr>
        <p:txBody>
          <a:bodyPr wrap="square" lIns="0" tIns="0" rIns="0" bIns="0" rtlCol="0" anchor="t"/>
          <a:lstStyle/>
          <a:p>
            <a:pPr indent="0" marL="0">
              <a:buNone/>
            </a:pPr>
            <a:r>
              <a:rPr lang="en-US" sz="1200" b="1" dirty="0">
                <a:solidFill>
                  <a:schemeClr val="accent1"/>
                </a:solidFill>
              </a:rPr>
              <a:t>The gap</a:t>
            </a:r>
            <a:endParaRPr lang="en-US" sz="1200" dirty="0"/>
          </a:p>
        </p:txBody>
      </p:sp>
      <p:sp>
        <p:nvSpPr>
          <p:cNvPr id="34" name="Text 28"/>
          <p:cNvSpPr txBox="1"/>
          <p:nvPr/>
        </p:nvSpPr>
        <p:spPr>
          <a:xfrm>
            <a:off x="9226296" y="4389120"/>
            <a:ext cx="2194560" cy="777240"/>
          </a:xfrm>
          <a:prstGeom prst="rect">
            <a:avLst/>
          </a:prstGeom>
          <a:noFill/>
          <a:ln/>
        </p:spPr>
        <p:txBody>
          <a:bodyPr wrap="square" lIns="0" tIns="0" rIns="0" bIns="0" rtlCol="0" anchor="t"/>
          <a:lstStyle/>
          <a:p>
            <a:pPr indent="0" marL="0">
              <a:buNone/>
            </a:pPr>
            <a:r>
              <a:rPr lang="en-US" sz="1400" dirty="0">
                <a:solidFill>
                  <a:schemeClr val="tx1"/>
                </a:solidFill>
              </a:rPr>
              <a:t>Can invent places, timings and prices; no real map or Kannada voice</a:t>
            </a:r>
            <a:endParaRPr lang="en-US" sz="1400" dirty="0"/>
          </a:p>
        </p:txBody>
      </p:sp>
      <p:sp>
        <p:nvSpPr>
          <p:cNvPr id="35" name="Gap summary"/>
          <p:cNvSpPr/>
          <p:nvPr/>
        </p:nvSpPr>
        <p:spPr>
          <a:xfrm>
            <a:off x="548640" y="5440680"/>
            <a:ext cx="11064240" cy="731520"/>
          </a:xfrm>
          <a:prstGeom prst="roundRect">
            <a:avLst>
              <a:gd name="adj" fmla="val 15000"/>
            </a:avLst>
          </a:prstGeom>
          <a:solidFill>
            <a:schemeClr val="bg2"/>
          </a:solidFill>
          <a:ln/>
        </p:spPr>
      </p:sp>
      <p:sp>
        <p:nvSpPr>
          <p:cNvPr id="36" name="Text 30"/>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600" b="1" dirty="0">
                <a:solidFill>
                  <a:schemeClr val="accent1"/>
                </a:solidFill>
              </a:rPr>
              <a:t>The gap: </a:t>
            </a:r>
            <a:pPr indent="0" marL="0">
              <a:buNone/>
            </a:pPr>
            <a:r>
              <a:rPr lang="en-US" sz="1600" dirty="0">
                <a:solidFill>
                  <a:schemeClr val="tx1"/>
                </a:solidFill>
              </a:rPr>
              <a:t>no single tool turns “</a:t>
            </a:r>
            <a:pPr indent="0" marL="0">
              <a:buNone/>
            </a:pPr>
            <a:r>
              <a:rPr lang="en-US" sz="1600" dirty="0">
                <a:solidFill>
                  <a:schemeClr val="tx1"/>
                </a:solidFill>
                <a:latin typeface="Nirmala UI" pitchFamily="34" charset="0"/>
                <a:ea typeface="Nirmala UI" pitchFamily="34" charset="-122"/>
                <a:cs typeface="Nirmala UI" pitchFamily="34" charset="-120"/>
              </a:rPr>
              <a:t>ಮೈಸೂರಿನಿಂದ 3 ದಿನ, ಕಾಡು ಇಷ್ಟ</a:t>
            </a:r>
            <a:pPr indent="0" marL="0">
              <a:buNone/>
            </a:pPr>
            <a:r>
              <a:rPr lang="en-US" sz="1600" dirty="0">
                <a:solidFill>
                  <a:schemeClr val="tx1"/>
                </a:solidFill>
              </a:rPr>
              <a:t>” (3 days from Mysuru, I love forests) into a realistic, mapped and costed plan.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How Pravasa is different</a:t>
            </a:r>
            <a:endParaRPr lang="en-US" sz="34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4206240"/>
                <a:gridCol w="5120640"/>
              </a:tblGrid>
              <a:tr h="621792">
                <a:tc>
                  <a:txBody>
                    <a:bodyPr/>
                    <a:lstStyle/>
                    <a:p>
                      <a:pPr indent="0" marL="0">
                        <a:buNone/>
                      </a:pP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The usual way</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Pravasa</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accent1"/>
                    </a:solidFill>
                  </a:tcPr>
                </a:tc>
              </a:tr>
              <a:tr h="621792">
                <a:tc>
                  <a:txBody>
                    <a:bodyPr/>
                    <a:lstStyle/>
                    <a:p>
                      <a:pPr indent="0" marL="0">
                        <a:buNone/>
                      </a:pPr>
                      <a:r>
                        <a:rPr lang="en-US" sz="1500" b="1" dirty="0">
                          <a:solidFill>
                            <a:schemeClr val="accent1"/>
                          </a:solidFill>
                        </a:rPr>
                        <a:t>Asking</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Typed English, filters and search boxes</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Speak or type in Kannada or English, or tap an example</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r>
              <a:tr h="621792">
                <a:tc>
                  <a:txBody>
                    <a:bodyPr/>
                    <a:lstStyle/>
                    <a:p>
                      <a:pPr indent="0" marL="0">
                        <a:buNone/>
                      </a:pPr>
                      <a:r>
                        <a:rPr lang="en-US" sz="1500" b="1" dirty="0">
                          <a:solidFill>
                            <a:schemeClr val="accent1"/>
                          </a:solidFill>
                        </a:rPr>
                        <a:t>Places</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Generic lists; AI chatbots may invent places</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55 hand-checked Karnataka places; the AI can't add new ones</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accent1"/>
                          </a:solidFill>
                        </a:rPr>
                        <a:t>Route</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Guessed distances, one place at a time</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Real road distances and a day-by-day map</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r>
              <a:tr h="621792">
                <a:tc>
                  <a:txBody>
                    <a:bodyPr/>
                    <a:lstStyle/>
                    <a:p>
                      <a:pPr indent="0" marL="0">
                        <a:buNone/>
                      </a:pPr>
                      <a:r>
                        <a:rPr lang="en-US" sz="1500" b="1" dirty="0">
                          <a:solidFill>
                            <a:schemeClr val="accent1"/>
                          </a:solidFill>
                        </a:rPr>
                        <a:t>Timing</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No season or weather advice</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Weather forecast plus season warnings for each place</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accent1"/>
                          </a:solidFill>
                        </a:rPr>
                        <a:t>Money</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dirty="0">
                          <a:solidFill>
                            <a:schemeClr val="accent3"/>
                          </a:solidFill>
                        </a:rPr>
                        <a:t>Costs found separately</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Travel, stay, food and fees estimated against your budget</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2"/>
                    </a:solidFill>
                  </a:tcPr>
                </a:tc>
              </a:tr>
              <a:tr h="621792">
                <a:tc>
                  <a:txBody>
                    <a:bodyPr/>
                    <a:lstStyle/>
                    <a:p>
                      <a:pPr indent="0" marL="0">
                        <a:buNone/>
                      </a:pPr>
                      <a:r>
                        <a:rPr lang="en-US" sz="1500" b="1" dirty="0">
                          <a:solidFill>
                            <a:schemeClr val="accent1"/>
                          </a:solidFill>
                        </a:rPr>
                        <a:t>Take-away</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3"/>
                          </a:solidFill>
                        </a:rPr>
                        <a:t>Many open tabs</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One page, a Kannada audio summary and a PDF to carry</a:t>
                      </a:r>
                      <a:endParaRPr lang="en-US" sz="1500" dirty="0"/>
                    </a:p>
                  </a:txBody>
                  <a:tcPr marL="137160" marR="137160" marT="0" marB="0" anchor="ctr">
                    <a:lnL w="12700" cap="flat" cmpd="sng" algn="ctr">
                      <a:solidFill>
                        <a:srgbClr val="E9E5DF"/>
                      </a:solidFill>
                      <a:prstDash val="solid"/>
                      <a:round/>
                      <a:headEnd type="none" w="med" len="med"/>
                      <a:tailEnd type="none" w="med" len="med"/>
                    </a:lnL>
                    <a:lnR w="12700" cap="flat" cmpd="sng" algn="ctr">
                      <a:solidFill>
                        <a:srgbClr val="E9E5DF"/>
                      </a:solidFill>
                      <a:prstDash val="solid"/>
                      <a:round/>
                      <a:headEnd type="none" w="med" len="med"/>
                      <a:tailEnd type="none" w="med" len="med"/>
                    </a:lnR>
                    <a:lnT w="12700" cap="flat" cmpd="sng" algn="ctr">
                      <a:solidFill>
                        <a:srgbClr val="E9E5DF"/>
                      </a:solidFill>
                      <a:prstDash val="solid"/>
                      <a:round/>
                      <a:headEnd type="none" w="med" len="med"/>
                      <a:tailEnd type="none" w="med" len="med"/>
                    </a:lnT>
                    <a:lnB w="12700" cap="flat" cmpd="sng" algn="ctr">
                      <a:solidFill>
                        <a:srgbClr val="E9E5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Approach: from one sentence to a full trip</a:t>
            </a:r>
            <a:endParaRPr lang="en-US" sz="3400" dirty="0"/>
          </a:p>
        </p:txBody>
      </p:sp>
      <p:sp>
        <p:nvSpPr>
          <p:cNvPr id="3" name="Step card 1"/>
          <p:cNvSpPr/>
          <p:nvPr/>
        </p:nvSpPr>
        <p:spPr>
          <a:xfrm>
            <a:off x="548640" y="1463040"/>
            <a:ext cx="2011680" cy="3017520"/>
          </a:xfrm>
          <a:prstGeom prst="roundRect">
            <a:avLst>
              <a:gd name="adj" fmla="val 545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4" name="1  Ask circle"/>
          <p:cNvSpPr/>
          <p:nvPr/>
        </p:nvSpPr>
        <p:spPr>
          <a:xfrm>
            <a:off x="1188720" y="1691640"/>
            <a:ext cx="731520" cy="731520"/>
          </a:xfrm>
          <a:prstGeom prst="ellipse">
            <a:avLst/>
          </a:prstGeom>
          <a:solidFill>
            <a:schemeClr val="accent1"/>
          </a:solidFill>
          <a:ln/>
        </p:spPr>
      </p:sp>
      <p:pic>
        <p:nvPicPr>
          <p:cNvPr id="5" name="1  Ask icon" descr="1  Ask">    </p:cNvPr>
          <p:cNvPicPr>
            <a:picLocks noChangeAspect="1"/>
          </p:cNvPicPr>
          <p:nvPr/>
        </p:nvPicPr>
        <p:blipFill>
          <a:blip r:embed="rId1"/>
          <a:stretch>
            <a:fillRect/>
          </a:stretch>
        </p:blipFill>
        <p:spPr>
          <a:xfrm>
            <a:off x="1371600" y="1874520"/>
            <a:ext cx="365760" cy="365760"/>
          </a:xfrm>
          <a:prstGeom prst="rect">
            <a:avLst/>
          </a:prstGeom>
        </p:spPr>
      </p:pic>
      <p:sp>
        <p:nvSpPr>
          <p:cNvPr id="6" name="Text 3"/>
          <p:cNvSpPr txBox="1"/>
          <p:nvPr/>
        </p:nvSpPr>
        <p:spPr>
          <a:xfrm>
            <a:off x="685800" y="2560320"/>
            <a:ext cx="1737360" cy="365760"/>
          </a:xfrm>
          <a:prstGeom prst="rect">
            <a:avLst/>
          </a:prstGeom>
          <a:noFill/>
          <a:ln/>
        </p:spPr>
        <p:txBody>
          <a:bodyPr wrap="square" lIns="0" tIns="0" rIns="0" bIns="0" rtlCol="0" anchor="t"/>
          <a:lstStyle/>
          <a:p>
            <a:pPr algn="ctr" indent="0" marL="0">
              <a:buNone/>
            </a:pPr>
            <a:r>
              <a:rPr lang="en-US" sz="1800" b="1" dirty="0">
                <a:solidFill>
                  <a:schemeClr val="accent1"/>
                </a:solidFill>
              </a:rPr>
              <a:t>1  Ask</a:t>
            </a:r>
            <a:endParaRPr lang="en-US" sz="1800" dirty="0"/>
          </a:p>
        </p:txBody>
      </p:sp>
      <p:sp>
        <p:nvSpPr>
          <p:cNvPr id="7" name="Text 4"/>
          <p:cNvSpPr txBox="1"/>
          <p:nvPr/>
        </p:nvSpPr>
        <p:spPr>
          <a:xfrm>
            <a:off x="731520" y="3017520"/>
            <a:ext cx="1645920" cy="1645920"/>
          </a:xfrm>
          <a:prstGeom prst="rect">
            <a:avLst/>
          </a:prstGeom>
          <a:noFill/>
          <a:ln/>
        </p:spPr>
        <p:txBody>
          <a:bodyPr wrap="square" lIns="0" tIns="0" rIns="0" bIns="0" rtlCol="0" anchor="t"/>
          <a:lstStyle/>
          <a:p>
            <a:pPr algn="ctr" indent="0" marL="0">
              <a:buNone/>
            </a:pPr>
            <a:r>
              <a:rPr lang="en-US" sz="1400" dirty="0">
                <a:solidFill>
                  <a:schemeClr val="tx1"/>
                </a:solidFill>
              </a:rPr>
              <a:t>Speak or type in Kannada or English, or tap a one-tap example</a:t>
            </a:r>
            <a:endParaRPr lang="en-US" sz="1400" dirty="0"/>
          </a:p>
        </p:txBody>
      </p:sp>
      <p:sp>
        <p:nvSpPr>
          <p:cNvPr id="8" name="Arrow 1"/>
          <p:cNvSpPr/>
          <p:nvPr/>
        </p:nvSpPr>
        <p:spPr>
          <a:xfrm>
            <a:off x="2596896" y="2926080"/>
            <a:ext cx="201168" cy="365760"/>
          </a:xfrm>
          <a:prstGeom prst="rightArrow">
            <a:avLst/>
          </a:prstGeom>
          <a:solidFill>
            <a:schemeClr val="accent2"/>
          </a:solidFill>
          <a:ln/>
        </p:spPr>
      </p:sp>
      <p:sp>
        <p:nvSpPr>
          <p:cNvPr id="9" name="Step card 2"/>
          <p:cNvSpPr/>
          <p:nvPr/>
        </p:nvSpPr>
        <p:spPr>
          <a:xfrm>
            <a:off x="2834640" y="1463040"/>
            <a:ext cx="2011680" cy="3017520"/>
          </a:xfrm>
          <a:prstGeom prst="roundRect">
            <a:avLst>
              <a:gd name="adj" fmla="val 545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0" name="2  Understand circle"/>
          <p:cNvSpPr/>
          <p:nvPr/>
        </p:nvSpPr>
        <p:spPr>
          <a:xfrm>
            <a:off x="3474720" y="1691640"/>
            <a:ext cx="731520" cy="731520"/>
          </a:xfrm>
          <a:prstGeom prst="ellipse">
            <a:avLst/>
          </a:prstGeom>
          <a:solidFill>
            <a:schemeClr val="accent1"/>
          </a:solidFill>
          <a:ln/>
        </p:spPr>
      </p:sp>
      <p:pic>
        <p:nvPicPr>
          <p:cNvPr id="11" name="2  Understand icon" descr="2  Understand">    </p:cNvPr>
          <p:cNvPicPr>
            <a:picLocks noChangeAspect="1"/>
          </p:cNvPicPr>
          <p:nvPr/>
        </p:nvPicPr>
        <p:blipFill>
          <a:blip r:embed="rId2"/>
          <a:stretch>
            <a:fillRect/>
          </a:stretch>
        </p:blipFill>
        <p:spPr>
          <a:xfrm>
            <a:off x="3657600" y="1874520"/>
            <a:ext cx="365760" cy="365760"/>
          </a:xfrm>
          <a:prstGeom prst="rect">
            <a:avLst/>
          </a:prstGeom>
        </p:spPr>
      </p:pic>
      <p:sp>
        <p:nvSpPr>
          <p:cNvPr id="12" name="Text 8"/>
          <p:cNvSpPr txBox="1"/>
          <p:nvPr/>
        </p:nvSpPr>
        <p:spPr>
          <a:xfrm>
            <a:off x="2971800" y="2560320"/>
            <a:ext cx="1737360" cy="365760"/>
          </a:xfrm>
          <a:prstGeom prst="rect">
            <a:avLst/>
          </a:prstGeom>
          <a:noFill/>
          <a:ln/>
        </p:spPr>
        <p:txBody>
          <a:bodyPr wrap="square" lIns="0" tIns="0" rIns="0" bIns="0" rtlCol="0" anchor="t"/>
          <a:lstStyle/>
          <a:p>
            <a:pPr algn="ctr" indent="0" marL="0">
              <a:buNone/>
            </a:pPr>
            <a:r>
              <a:rPr lang="en-US" sz="1800" b="1" dirty="0">
                <a:solidFill>
                  <a:schemeClr val="accent1"/>
                </a:solidFill>
              </a:rPr>
              <a:t>2  Understand</a:t>
            </a:r>
            <a:endParaRPr lang="en-US" sz="1800" dirty="0"/>
          </a:p>
        </p:txBody>
      </p:sp>
      <p:sp>
        <p:nvSpPr>
          <p:cNvPr id="13" name="Text 9"/>
          <p:cNvSpPr txBox="1"/>
          <p:nvPr/>
        </p:nvSpPr>
        <p:spPr>
          <a:xfrm>
            <a:off x="3017520" y="3017520"/>
            <a:ext cx="1645920" cy="1645920"/>
          </a:xfrm>
          <a:prstGeom prst="rect">
            <a:avLst/>
          </a:prstGeom>
          <a:noFill/>
          <a:ln/>
        </p:spPr>
        <p:txBody>
          <a:bodyPr wrap="square" lIns="0" tIns="0" rIns="0" bIns="0" rtlCol="0" anchor="t"/>
          <a:lstStyle/>
          <a:p>
            <a:pPr algn="ctr" indent="0" marL="0">
              <a:buNone/>
            </a:pPr>
            <a:r>
              <a:rPr lang="en-US" sz="1400" dirty="0">
                <a:solidFill>
                  <a:schemeClr val="tx1"/>
                </a:solidFill>
              </a:rPr>
              <a:t>Gemini turns the words into settings: days, budget, start city, interests, must-see places</a:t>
            </a:r>
            <a:endParaRPr lang="en-US" sz="1400" dirty="0"/>
          </a:p>
        </p:txBody>
      </p:sp>
      <p:sp>
        <p:nvSpPr>
          <p:cNvPr id="14" name="Arrow 2"/>
          <p:cNvSpPr/>
          <p:nvPr/>
        </p:nvSpPr>
        <p:spPr>
          <a:xfrm>
            <a:off x="4882896" y="2926080"/>
            <a:ext cx="201168" cy="365760"/>
          </a:xfrm>
          <a:prstGeom prst="rightArrow">
            <a:avLst/>
          </a:prstGeom>
          <a:solidFill>
            <a:schemeClr val="accent2"/>
          </a:solidFill>
          <a:ln/>
        </p:spPr>
      </p:sp>
      <p:sp>
        <p:nvSpPr>
          <p:cNvPr id="15" name="Step card 3"/>
          <p:cNvSpPr/>
          <p:nvPr/>
        </p:nvSpPr>
        <p:spPr>
          <a:xfrm>
            <a:off x="5120640" y="1463040"/>
            <a:ext cx="2011680" cy="3017520"/>
          </a:xfrm>
          <a:prstGeom prst="roundRect">
            <a:avLst>
              <a:gd name="adj" fmla="val 545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6" name="3  Plan circle"/>
          <p:cNvSpPr/>
          <p:nvPr/>
        </p:nvSpPr>
        <p:spPr>
          <a:xfrm>
            <a:off x="5760720" y="1691640"/>
            <a:ext cx="731520" cy="731520"/>
          </a:xfrm>
          <a:prstGeom prst="ellipse">
            <a:avLst/>
          </a:prstGeom>
          <a:solidFill>
            <a:schemeClr val="accent1"/>
          </a:solidFill>
          <a:ln/>
        </p:spPr>
      </p:sp>
      <p:pic>
        <p:nvPicPr>
          <p:cNvPr id="17" name="3  Plan icon" descr="3  Plan">    </p:cNvPr>
          <p:cNvPicPr>
            <a:picLocks noChangeAspect="1"/>
          </p:cNvPicPr>
          <p:nvPr/>
        </p:nvPicPr>
        <p:blipFill>
          <a:blip r:embed="rId3"/>
          <a:stretch>
            <a:fillRect/>
          </a:stretch>
        </p:blipFill>
        <p:spPr>
          <a:xfrm>
            <a:off x="5943600" y="1874520"/>
            <a:ext cx="365760" cy="365760"/>
          </a:xfrm>
          <a:prstGeom prst="rect">
            <a:avLst/>
          </a:prstGeom>
        </p:spPr>
      </p:pic>
      <p:sp>
        <p:nvSpPr>
          <p:cNvPr id="18" name="Text 13"/>
          <p:cNvSpPr txBox="1"/>
          <p:nvPr/>
        </p:nvSpPr>
        <p:spPr>
          <a:xfrm>
            <a:off x="5257800" y="2560320"/>
            <a:ext cx="1737360" cy="365760"/>
          </a:xfrm>
          <a:prstGeom prst="rect">
            <a:avLst/>
          </a:prstGeom>
          <a:noFill/>
          <a:ln/>
        </p:spPr>
        <p:txBody>
          <a:bodyPr wrap="square" lIns="0" tIns="0" rIns="0" bIns="0" rtlCol="0" anchor="t"/>
          <a:lstStyle/>
          <a:p>
            <a:pPr algn="ctr" indent="0" marL="0">
              <a:buNone/>
            </a:pPr>
            <a:r>
              <a:rPr lang="en-US" sz="1800" b="1" dirty="0">
                <a:solidFill>
                  <a:schemeClr val="accent1"/>
                </a:solidFill>
              </a:rPr>
              <a:t>3  Plan</a:t>
            </a:r>
            <a:endParaRPr lang="en-US" sz="1800" dirty="0"/>
          </a:p>
        </p:txBody>
      </p:sp>
      <p:sp>
        <p:nvSpPr>
          <p:cNvPr id="19" name="Text 14"/>
          <p:cNvSpPr txBox="1"/>
          <p:nvPr/>
        </p:nvSpPr>
        <p:spPr>
          <a:xfrm>
            <a:off x="5303520" y="3017520"/>
            <a:ext cx="1645920" cy="1645920"/>
          </a:xfrm>
          <a:prstGeom prst="rect">
            <a:avLst/>
          </a:prstGeom>
          <a:noFill/>
          <a:ln/>
        </p:spPr>
        <p:txBody>
          <a:bodyPr wrap="square" lIns="0" tIns="0" rIns="0" bIns="0" rtlCol="0" anchor="t"/>
          <a:lstStyle/>
          <a:p>
            <a:pPr algn="ctr" indent="0" marL="0">
              <a:buNone/>
            </a:pPr>
            <a:r>
              <a:rPr lang="en-US" sz="1400" dirty="0">
                <a:solidFill>
                  <a:schemeClr val="tx1"/>
                </a:solidFill>
              </a:rPr>
              <a:t>Our planner scores places by interest and best month, then fits each day into about 9 hours</a:t>
            </a:r>
            <a:endParaRPr lang="en-US" sz="1400" dirty="0"/>
          </a:p>
        </p:txBody>
      </p:sp>
      <p:sp>
        <p:nvSpPr>
          <p:cNvPr id="20" name="Arrow 3"/>
          <p:cNvSpPr/>
          <p:nvPr/>
        </p:nvSpPr>
        <p:spPr>
          <a:xfrm>
            <a:off x="7168896" y="2926080"/>
            <a:ext cx="201168" cy="365760"/>
          </a:xfrm>
          <a:prstGeom prst="rightArrow">
            <a:avLst/>
          </a:prstGeom>
          <a:solidFill>
            <a:schemeClr val="accent2"/>
          </a:solidFill>
          <a:ln/>
        </p:spPr>
      </p:sp>
      <p:sp>
        <p:nvSpPr>
          <p:cNvPr id="21" name="Step card 4"/>
          <p:cNvSpPr/>
          <p:nvPr/>
        </p:nvSpPr>
        <p:spPr>
          <a:xfrm>
            <a:off x="7406640" y="1463040"/>
            <a:ext cx="2011680" cy="3017520"/>
          </a:xfrm>
          <a:prstGeom prst="roundRect">
            <a:avLst>
              <a:gd name="adj" fmla="val 545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2" name="4  Enrich circle"/>
          <p:cNvSpPr/>
          <p:nvPr/>
        </p:nvSpPr>
        <p:spPr>
          <a:xfrm>
            <a:off x="8046720" y="1691640"/>
            <a:ext cx="731520" cy="731520"/>
          </a:xfrm>
          <a:prstGeom prst="ellipse">
            <a:avLst/>
          </a:prstGeom>
          <a:solidFill>
            <a:schemeClr val="accent1"/>
          </a:solidFill>
          <a:ln/>
        </p:spPr>
      </p:sp>
      <p:pic>
        <p:nvPicPr>
          <p:cNvPr id="23" name="4  Enrich icon" descr="4  Enrich">    </p:cNvPr>
          <p:cNvPicPr>
            <a:picLocks noChangeAspect="1"/>
          </p:cNvPicPr>
          <p:nvPr/>
        </p:nvPicPr>
        <p:blipFill>
          <a:blip r:embed="rId4"/>
          <a:stretch>
            <a:fillRect/>
          </a:stretch>
        </p:blipFill>
        <p:spPr>
          <a:xfrm>
            <a:off x="8229600" y="1874520"/>
            <a:ext cx="365760" cy="365760"/>
          </a:xfrm>
          <a:prstGeom prst="rect">
            <a:avLst/>
          </a:prstGeom>
        </p:spPr>
      </p:pic>
      <p:sp>
        <p:nvSpPr>
          <p:cNvPr id="24" name="Text 18"/>
          <p:cNvSpPr txBox="1"/>
          <p:nvPr/>
        </p:nvSpPr>
        <p:spPr>
          <a:xfrm>
            <a:off x="7543800" y="2560320"/>
            <a:ext cx="1737360" cy="365760"/>
          </a:xfrm>
          <a:prstGeom prst="rect">
            <a:avLst/>
          </a:prstGeom>
          <a:noFill/>
          <a:ln/>
        </p:spPr>
        <p:txBody>
          <a:bodyPr wrap="square" lIns="0" tIns="0" rIns="0" bIns="0" rtlCol="0" anchor="t"/>
          <a:lstStyle/>
          <a:p>
            <a:pPr algn="ctr" indent="0" marL="0">
              <a:buNone/>
            </a:pPr>
            <a:r>
              <a:rPr lang="en-US" sz="1800" b="1" dirty="0">
                <a:solidFill>
                  <a:schemeClr val="accent1"/>
                </a:solidFill>
              </a:rPr>
              <a:t>4  Enrich</a:t>
            </a:r>
            <a:endParaRPr lang="en-US" sz="1800" dirty="0"/>
          </a:p>
        </p:txBody>
      </p:sp>
      <p:sp>
        <p:nvSpPr>
          <p:cNvPr id="25" name="Text 19"/>
          <p:cNvSpPr txBox="1"/>
          <p:nvPr/>
        </p:nvSpPr>
        <p:spPr>
          <a:xfrm>
            <a:off x="7589520" y="3017520"/>
            <a:ext cx="1645920" cy="1645920"/>
          </a:xfrm>
          <a:prstGeom prst="rect">
            <a:avLst/>
          </a:prstGeom>
          <a:noFill/>
          <a:ln/>
        </p:spPr>
        <p:txBody>
          <a:bodyPr wrap="square" lIns="0" tIns="0" rIns="0" bIns="0" rtlCol="0" anchor="t"/>
          <a:lstStyle/>
          <a:p>
            <a:pPr algn="ctr" indent="0" marL="0">
              <a:buNone/>
            </a:pPr>
            <a:r>
              <a:rPr lang="en-US" sz="1400" dirty="0">
                <a:solidFill>
                  <a:schemeClr val="tx1"/>
                </a:solidFill>
              </a:rPr>
              <a:t>Road routes, weather, photos, traveller notes and hotels, all fetched at once</a:t>
            </a:r>
            <a:endParaRPr lang="en-US" sz="1400" dirty="0"/>
          </a:p>
        </p:txBody>
      </p:sp>
      <p:sp>
        <p:nvSpPr>
          <p:cNvPr id="26" name="Arrow 4"/>
          <p:cNvSpPr/>
          <p:nvPr/>
        </p:nvSpPr>
        <p:spPr>
          <a:xfrm>
            <a:off x="9454896" y="2926080"/>
            <a:ext cx="201168" cy="365760"/>
          </a:xfrm>
          <a:prstGeom prst="rightArrow">
            <a:avLst/>
          </a:prstGeom>
          <a:solidFill>
            <a:schemeClr val="accent2"/>
          </a:solidFill>
          <a:ln/>
        </p:spPr>
      </p:sp>
      <p:sp>
        <p:nvSpPr>
          <p:cNvPr id="27" name="Step card 5"/>
          <p:cNvSpPr/>
          <p:nvPr/>
        </p:nvSpPr>
        <p:spPr>
          <a:xfrm>
            <a:off x="9692640" y="1463040"/>
            <a:ext cx="2011680" cy="3017520"/>
          </a:xfrm>
          <a:prstGeom prst="roundRect">
            <a:avLst>
              <a:gd name="adj" fmla="val 545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8" name="5  Deliver circle"/>
          <p:cNvSpPr/>
          <p:nvPr/>
        </p:nvSpPr>
        <p:spPr>
          <a:xfrm>
            <a:off x="10332720" y="1691640"/>
            <a:ext cx="731520" cy="731520"/>
          </a:xfrm>
          <a:prstGeom prst="ellipse">
            <a:avLst/>
          </a:prstGeom>
          <a:solidFill>
            <a:schemeClr val="accent1"/>
          </a:solidFill>
          <a:ln/>
        </p:spPr>
      </p:sp>
      <p:pic>
        <p:nvPicPr>
          <p:cNvPr id="29" name="5  Deliver icon" descr="5  Deliver">    </p:cNvPr>
          <p:cNvPicPr>
            <a:picLocks noChangeAspect="1"/>
          </p:cNvPicPr>
          <p:nvPr/>
        </p:nvPicPr>
        <p:blipFill>
          <a:blip r:embed="rId5"/>
          <a:stretch>
            <a:fillRect/>
          </a:stretch>
        </p:blipFill>
        <p:spPr>
          <a:xfrm>
            <a:off x="10515600" y="1874520"/>
            <a:ext cx="365760" cy="365760"/>
          </a:xfrm>
          <a:prstGeom prst="rect">
            <a:avLst/>
          </a:prstGeom>
        </p:spPr>
      </p:pic>
      <p:sp>
        <p:nvSpPr>
          <p:cNvPr id="30" name="Text 23"/>
          <p:cNvSpPr txBox="1"/>
          <p:nvPr/>
        </p:nvSpPr>
        <p:spPr>
          <a:xfrm>
            <a:off x="9829800" y="2560320"/>
            <a:ext cx="1737360" cy="365760"/>
          </a:xfrm>
          <a:prstGeom prst="rect">
            <a:avLst/>
          </a:prstGeom>
          <a:noFill/>
          <a:ln/>
        </p:spPr>
        <p:txBody>
          <a:bodyPr wrap="square" lIns="0" tIns="0" rIns="0" bIns="0" rtlCol="0" anchor="t"/>
          <a:lstStyle/>
          <a:p>
            <a:pPr algn="ctr" indent="0" marL="0">
              <a:buNone/>
            </a:pPr>
            <a:r>
              <a:rPr lang="en-US" sz="1800" b="1" dirty="0">
                <a:solidFill>
                  <a:schemeClr val="accent1"/>
                </a:solidFill>
              </a:rPr>
              <a:t>5  Deliver</a:t>
            </a:r>
            <a:endParaRPr lang="en-US" sz="1800" dirty="0"/>
          </a:p>
        </p:txBody>
      </p:sp>
      <p:sp>
        <p:nvSpPr>
          <p:cNvPr id="31" name="Text 24"/>
          <p:cNvSpPr txBox="1"/>
          <p:nvPr/>
        </p:nvSpPr>
        <p:spPr>
          <a:xfrm>
            <a:off x="9875520" y="3017520"/>
            <a:ext cx="1645920" cy="1645920"/>
          </a:xfrm>
          <a:prstGeom prst="rect">
            <a:avLst/>
          </a:prstGeom>
          <a:noFill/>
          <a:ln/>
        </p:spPr>
        <p:txBody>
          <a:bodyPr wrap="square" lIns="0" tIns="0" rIns="0" bIns="0" rtlCol="0" anchor="t"/>
          <a:lstStyle/>
          <a:p>
            <a:pPr algn="ctr" indent="0" marL="0">
              <a:buNone/>
            </a:pPr>
            <a:r>
              <a:rPr lang="en-US" sz="1400" dirty="0">
                <a:solidFill>
                  <a:schemeClr val="tx1"/>
                </a:solidFill>
              </a:rPr>
              <a:t>Map, day-by-day plan, costs, an AI trip story you can listen to, and a PDF</a:t>
            </a:r>
            <a:endParaRPr lang="en-US" sz="1400" dirty="0"/>
          </a:p>
        </p:txBody>
      </p:sp>
      <p:sp>
        <p:nvSpPr>
          <p:cNvPr id="32" name="Difference note"/>
          <p:cNvSpPr/>
          <p:nvPr/>
        </p:nvSpPr>
        <p:spPr>
          <a:xfrm>
            <a:off x="548640" y="4800600"/>
            <a:ext cx="11064240" cy="1097280"/>
          </a:xfrm>
          <a:prstGeom prst="roundRect">
            <a:avLst>
              <a:gd name="adj" fmla="val 10000"/>
            </a:avLst>
          </a:prstGeom>
          <a:solidFill>
            <a:schemeClr val="bg2"/>
          </a:solidFill>
          <a:ln/>
        </p:spPr>
      </p:sp>
      <p:sp>
        <p:nvSpPr>
          <p:cNvPr id="33" name="Text 26"/>
          <p:cNvSpPr txBox="1"/>
          <p:nvPr/>
        </p:nvSpPr>
        <p:spPr>
          <a:xfrm>
            <a:off x="822960" y="4800600"/>
            <a:ext cx="10515600" cy="1097280"/>
          </a:xfrm>
          <a:prstGeom prst="rect">
            <a:avLst/>
          </a:prstGeom>
          <a:noFill/>
          <a:ln/>
        </p:spPr>
        <p:txBody>
          <a:bodyPr wrap="square" lIns="0" tIns="0" rIns="0" bIns="0" rtlCol="0" anchor="ctr"/>
          <a:lstStyle/>
          <a:p>
            <a:pPr indent="0" marL="0">
              <a:buNone/>
            </a:pPr>
            <a:r>
              <a:rPr lang="en-US" sz="1600" b="1" dirty="0">
                <a:solidFill>
                  <a:schemeClr val="accent1"/>
                </a:solidFill>
              </a:rPr>
              <a:t>How this differs from the usual AI approach: </a:t>
            </a:r>
            <a:pPr indent="0" marL="0">
              <a:buNone/>
            </a:pPr>
            <a:r>
              <a:rPr lang="en-US" sz="1600" dirty="0">
                <a:solidFill>
                  <a:schemeClr val="tx1"/>
                </a:solidFill>
              </a:rPr>
              <a:t>the AI only understands the request and writes the story. The plan itself comes from clear, testable code over verified data, so Pravasa can't make up a place, a fee or a distance.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Key design decisions</a:t>
            </a:r>
            <a:endParaRPr lang="en-US" sz="3400" dirty="0"/>
          </a:p>
        </p:txBody>
      </p:sp>
      <p:sp>
        <p:nvSpPr>
          <p:cNvPr id="3" name="Decision card 1"/>
          <p:cNvSpPr/>
          <p:nvPr/>
        </p:nvSpPr>
        <p:spPr>
          <a:xfrm>
            <a:off x="548640" y="141732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4" name="AI for language, code for logic circle"/>
          <p:cNvSpPr/>
          <p:nvPr/>
        </p:nvSpPr>
        <p:spPr>
          <a:xfrm>
            <a:off x="777240" y="1645920"/>
            <a:ext cx="640080" cy="640080"/>
          </a:xfrm>
          <a:prstGeom prst="ellipse">
            <a:avLst/>
          </a:prstGeom>
          <a:solidFill>
            <a:schemeClr val="accent1"/>
          </a:solidFill>
          <a:ln/>
        </p:spPr>
      </p:sp>
      <p:pic>
        <p:nvPicPr>
          <p:cNvPr id="5" name="AI for language, code for logic icon" descr="AI for language, code for logic">    </p:cNvPr>
          <p:cNvPicPr>
            <a:picLocks noChangeAspect="1"/>
          </p:cNvPicPr>
          <p:nvPr/>
        </p:nvPicPr>
        <p:blipFill>
          <a:blip r:embed="rId1"/>
          <a:stretch>
            <a:fillRect/>
          </a:stretch>
        </p:blipFill>
        <p:spPr>
          <a:xfrm>
            <a:off x="937260" y="1805940"/>
            <a:ext cx="320040" cy="320040"/>
          </a:xfrm>
          <a:prstGeom prst="rect">
            <a:avLst/>
          </a:prstGeom>
        </p:spPr>
      </p:pic>
      <p:sp>
        <p:nvSpPr>
          <p:cNvPr id="6" name="Text 3"/>
          <p:cNvSpPr txBox="1"/>
          <p:nvPr/>
        </p:nvSpPr>
        <p:spPr>
          <a:xfrm>
            <a:off x="1554480" y="164592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AI for language, code for logic</a:t>
            </a:r>
            <a:endParaRPr lang="en-US" sz="1700" dirty="0"/>
          </a:p>
        </p:txBody>
      </p:sp>
      <p:sp>
        <p:nvSpPr>
          <p:cNvPr id="7" name="Text 4"/>
          <p:cNvSpPr txBox="1"/>
          <p:nvPr/>
        </p:nvSpPr>
        <p:spPr>
          <a:xfrm>
            <a:off x="777240" y="242316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Gemini reads requests and writes stories; the route, days and costs are calculated by our planner.</a:t>
            </a:r>
            <a:endParaRPr lang="en-US" sz="1400" dirty="0"/>
          </a:p>
        </p:txBody>
      </p:sp>
      <p:sp>
        <p:nvSpPr>
          <p:cNvPr id="8" name="Decision card 2"/>
          <p:cNvSpPr/>
          <p:nvPr/>
        </p:nvSpPr>
        <p:spPr>
          <a:xfrm>
            <a:off x="4297680" y="141732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9" name="Verified places only circle"/>
          <p:cNvSpPr/>
          <p:nvPr/>
        </p:nvSpPr>
        <p:spPr>
          <a:xfrm>
            <a:off x="4526280" y="1645920"/>
            <a:ext cx="640080" cy="640080"/>
          </a:xfrm>
          <a:prstGeom prst="ellipse">
            <a:avLst/>
          </a:prstGeom>
          <a:solidFill>
            <a:schemeClr val="accent1"/>
          </a:solidFill>
          <a:ln/>
        </p:spPr>
      </p:sp>
      <p:pic>
        <p:nvPicPr>
          <p:cNvPr id="10" name="Verified places only icon" descr="Verified places only">    </p:cNvPr>
          <p:cNvPicPr>
            <a:picLocks noChangeAspect="1"/>
          </p:cNvPicPr>
          <p:nvPr/>
        </p:nvPicPr>
        <p:blipFill>
          <a:blip r:embed="rId2"/>
          <a:stretch>
            <a:fillRect/>
          </a:stretch>
        </p:blipFill>
        <p:spPr>
          <a:xfrm>
            <a:off x="4686300" y="1805940"/>
            <a:ext cx="320040" cy="320040"/>
          </a:xfrm>
          <a:prstGeom prst="rect">
            <a:avLst/>
          </a:prstGeom>
        </p:spPr>
      </p:pic>
      <p:sp>
        <p:nvSpPr>
          <p:cNvPr id="11" name="Text 7"/>
          <p:cNvSpPr txBox="1"/>
          <p:nvPr/>
        </p:nvSpPr>
        <p:spPr>
          <a:xfrm>
            <a:off x="5303520" y="164592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Verified places only</a:t>
            </a:r>
            <a:endParaRPr lang="en-US" sz="1700" dirty="0"/>
          </a:p>
        </p:txBody>
      </p:sp>
      <p:sp>
        <p:nvSpPr>
          <p:cNvPr id="12" name="Text 8"/>
          <p:cNvSpPr txBox="1"/>
          <p:nvPr/>
        </p:nvSpPr>
        <p:spPr>
          <a:xfrm>
            <a:off x="4526280" y="242316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55 places, each with Kannada name, best months, visiting hours, fees and local food.</a:t>
            </a:r>
            <a:endParaRPr lang="en-US" sz="1400" dirty="0"/>
          </a:p>
        </p:txBody>
      </p:sp>
      <p:sp>
        <p:nvSpPr>
          <p:cNvPr id="13" name="Decision card 3"/>
          <p:cNvSpPr/>
          <p:nvPr/>
        </p:nvSpPr>
        <p:spPr>
          <a:xfrm>
            <a:off x="8046720" y="141732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4" name="One AI call for voice circle"/>
          <p:cNvSpPr/>
          <p:nvPr/>
        </p:nvSpPr>
        <p:spPr>
          <a:xfrm>
            <a:off x="8275320" y="1645920"/>
            <a:ext cx="640080" cy="640080"/>
          </a:xfrm>
          <a:prstGeom prst="ellipse">
            <a:avLst/>
          </a:prstGeom>
          <a:solidFill>
            <a:schemeClr val="accent1"/>
          </a:solidFill>
          <a:ln/>
        </p:spPr>
      </p:sp>
      <p:pic>
        <p:nvPicPr>
          <p:cNvPr id="15" name="One AI call for voice icon" descr="One AI call for voice">    </p:cNvPr>
          <p:cNvPicPr>
            <a:picLocks noChangeAspect="1"/>
          </p:cNvPicPr>
          <p:nvPr/>
        </p:nvPicPr>
        <p:blipFill>
          <a:blip r:embed="rId3"/>
          <a:stretch>
            <a:fillRect/>
          </a:stretch>
        </p:blipFill>
        <p:spPr>
          <a:xfrm>
            <a:off x="8435340" y="1805940"/>
            <a:ext cx="320040" cy="320040"/>
          </a:xfrm>
          <a:prstGeom prst="rect">
            <a:avLst/>
          </a:prstGeom>
        </p:spPr>
      </p:pic>
      <p:sp>
        <p:nvSpPr>
          <p:cNvPr id="16" name="Text 11"/>
          <p:cNvSpPr txBox="1"/>
          <p:nvPr/>
        </p:nvSpPr>
        <p:spPr>
          <a:xfrm>
            <a:off x="9052560" y="164592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One AI call for voice</a:t>
            </a:r>
            <a:endParaRPr lang="en-US" sz="1700" dirty="0"/>
          </a:p>
        </p:txBody>
      </p:sp>
      <p:sp>
        <p:nvSpPr>
          <p:cNvPr id="17" name="Text 12"/>
          <p:cNvSpPr txBox="1"/>
          <p:nvPr/>
        </p:nvSpPr>
        <p:spPr>
          <a:xfrm>
            <a:off x="8275320" y="242316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Hearing and understanding happen in a single request, with a quicker model first, so voice is fast.</a:t>
            </a:r>
            <a:endParaRPr lang="en-US" sz="1400" dirty="0"/>
          </a:p>
        </p:txBody>
      </p:sp>
      <p:sp>
        <p:nvSpPr>
          <p:cNvPr id="18" name="Decision card 4"/>
          <p:cNvSpPr/>
          <p:nvPr/>
        </p:nvSpPr>
        <p:spPr>
          <a:xfrm>
            <a:off x="548640" y="384048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9" name="Everything fetched in parallel circle"/>
          <p:cNvSpPr/>
          <p:nvPr/>
        </p:nvSpPr>
        <p:spPr>
          <a:xfrm>
            <a:off x="777240" y="4069080"/>
            <a:ext cx="640080" cy="640080"/>
          </a:xfrm>
          <a:prstGeom prst="ellipse">
            <a:avLst/>
          </a:prstGeom>
          <a:solidFill>
            <a:schemeClr val="accent1"/>
          </a:solidFill>
          <a:ln/>
        </p:spPr>
      </p:sp>
      <p:pic>
        <p:nvPicPr>
          <p:cNvPr id="20" name="Everything fetched in parallel icon" descr="Everything fetched in parallel">    </p:cNvPr>
          <p:cNvPicPr>
            <a:picLocks noChangeAspect="1"/>
          </p:cNvPicPr>
          <p:nvPr/>
        </p:nvPicPr>
        <p:blipFill>
          <a:blip r:embed="rId4"/>
          <a:stretch>
            <a:fillRect/>
          </a:stretch>
        </p:blipFill>
        <p:spPr>
          <a:xfrm>
            <a:off x="937260" y="4229100"/>
            <a:ext cx="320040" cy="320040"/>
          </a:xfrm>
          <a:prstGeom prst="rect">
            <a:avLst/>
          </a:prstGeom>
        </p:spPr>
      </p:pic>
      <p:sp>
        <p:nvSpPr>
          <p:cNvPr id="21" name="Text 15"/>
          <p:cNvSpPr txBox="1"/>
          <p:nvPr/>
        </p:nvSpPr>
        <p:spPr>
          <a:xfrm>
            <a:off x="1554480" y="406908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Everything fetched in parallel</a:t>
            </a:r>
            <a:endParaRPr lang="en-US" sz="1700" dirty="0"/>
          </a:p>
        </p:txBody>
      </p:sp>
      <p:sp>
        <p:nvSpPr>
          <p:cNvPr id="22" name="Text 16"/>
          <p:cNvSpPr txBox="1"/>
          <p:nvPr/>
        </p:nvSpPr>
        <p:spPr>
          <a:xfrm>
            <a:off x="777240" y="484632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Routes, photos, notes, hotels and weather load at the same time and are cached.</a:t>
            </a:r>
            <a:endParaRPr lang="en-US" sz="1400" dirty="0"/>
          </a:p>
        </p:txBody>
      </p:sp>
      <p:sp>
        <p:nvSpPr>
          <p:cNvPr id="23" name="Decision card 5"/>
          <p:cNvSpPr/>
          <p:nvPr/>
        </p:nvSpPr>
        <p:spPr>
          <a:xfrm>
            <a:off x="4297680" y="384048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4" name="Never stuck circle"/>
          <p:cNvSpPr/>
          <p:nvPr/>
        </p:nvSpPr>
        <p:spPr>
          <a:xfrm>
            <a:off x="4526280" y="4069080"/>
            <a:ext cx="640080" cy="640080"/>
          </a:xfrm>
          <a:prstGeom prst="ellipse">
            <a:avLst/>
          </a:prstGeom>
          <a:solidFill>
            <a:schemeClr val="accent1"/>
          </a:solidFill>
          <a:ln/>
        </p:spPr>
      </p:sp>
      <p:pic>
        <p:nvPicPr>
          <p:cNvPr id="25" name="Never stuck icon" descr="Never stuck">    </p:cNvPr>
          <p:cNvPicPr>
            <a:picLocks noChangeAspect="1"/>
          </p:cNvPicPr>
          <p:nvPr/>
        </p:nvPicPr>
        <p:blipFill>
          <a:blip r:embed="rId5"/>
          <a:stretch>
            <a:fillRect/>
          </a:stretch>
        </p:blipFill>
        <p:spPr>
          <a:xfrm>
            <a:off x="4686300" y="4229100"/>
            <a:ext cx="320040" cy="320040"/>
          </a:xfrm>
          <a:prstGeom prst="rect">
            <a:avLst/>
          </a:prstGeom>
        </p:spPr>
      </p:pic>
      <p:sp>
        <p:nvSpPr>
          <p:cNvPr id="26" name="Text 19"/>
          <p:cNvSpPr txBox="1"/>
          <p:nvPr/>
        </p:nvSpPr>
        <p:spPr>
          <a:xfrm>
            <a:off x="5303520" y="406908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Never stuck</a:t>
            </a:r>
            <a:endParaRPr lang="en-US" sz="1700" dirty="0"/>
          </a:p>
        </p:txBody>
      </p:sp>
      <p:sp>
        <p:nvSpPr>
          <p:cNvPr id="27" name="Text 20"/>
          <p:cNvSpPr txBox="1"/>
          <p:nvPr/>
        </p:nvSpPr>
        <p:spPr>
          <a:xfrm>
            <a:off x="4526280" y="484632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If the AI is slow, a built-in summary appears in 20 seconds; if routing fails, distances are estimated.</a:t>
            </a:r>
            <a:endParaRPr lang="en-US" sz="1400" dirty="0"/>
          </a:p>
        </p:txBody>
      </p:sp>
      <p:sp>
        <p:nvSpPr>
          <p:cNvPr id="28" name="Decision card 6"/>
          <p:cNvSpPr/>
          <p:nvPr/>
        </p:nvSpPr>
        <p:spPr>
          <a:xfrm>
            <a:off x="8046720" y="3840480"/>
            <a:ext cx="3566160" cy="2240280"/>
          </a:xfrm>
          <a:prstGeom prst="roundRect">
            <a:avLst>
              <a:gd name="adj" fmla="val 4898"/>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9" name="Kannada everywhere circle"/>
          <p:cNvSpPr/>
          <p:nvPr/>
        </p:nvSpPr>
        <p:spPr>
          <a:xfrm>
            <a:off x="8275320" y="4069080"/>
            <a:ext cx="640080" cy="640080"/>
          </a:xfrm>
          <a:prstGeom prst="ellipse">
            <a:avLst/>
          </a:prstGeom>
          <a:solidFill>
            <a:schemeClr val="accent1"/>
          </a:solidFill>
          <a:ln/>
        </p:spPr>
      </p:sp>
      <p:pic>
        <p:nvPicPr>
          <p:cNvPr id="30" name="Kannada everywhere icon" descr="Kannada everywhere">    </p:cNvPr>
          <p:cNvPicPr>
            <a:picLocks noChangeAspect="1"/>
          </p:cNvPicPr>
          <p:nvPr/>
        </p:nvPicPr>
        <p:blipFill>
          <a:blip r:embed="rId6"/>
          <a:stretch>
            <a:fillRect/>
          </a:stretch>
        </p:blipFill>
        <p:spPr>
          <a:xfrm>
            <a:off x="8435340" y="4229100"/>
            <a:ext cx="320040" cy="320040"/>
          </a:xfrm>
          <a:prstGeom prst="rect">
            <a:avLst/>
          </a:prstGeom>
        </p:spPr>
      </p:pic>
      <p:sp>
        <p:nvSpPr>
          <p:cNvPr id="31" name="Text 23"/>
          <p:cNvSpPr txBox="1"/>
          <p:nvPr/>
        </p:nvSpPr>
        <p:spPr>
          <a:xfrm>
            <a:off x="9052560" y="4069080"/>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Kannada everywhere</a:t>
            </a:r>
            <a:endParaRPr lang="en-US" sz="1700" dirty="0"/>
          </a:p>
        </p:txBody>
      </p:sp>
      <p:sp>
        <p:nvSpPr>
          <p:cNvPr id="32" name="Text 24"/>
          <p:cNvSpPr txBox="1"/>
          <p:nvPr/>
        </p:nvSpPr>
        <p:spPr>
          <a:xfrm>
            <a:off x="8275320" y="4846320"/>
            <a:ext cx="3108960" cy="1143000"/>
          </a:xfrm>
          <a:prstGeom prst="rect">
            <a:avLst/>
          </a:prstGeom>
          <a:noFill/>
          <a:ln/>
        </p:spPr>
        <p:txBody>
          <a:bodyPr wrap="square" lIns="0" tIns="0" rIns="0" bIns="0" rtlCol="0" anchor="t"/>
          <a:lstStyle/>
          <a:p>
            <a:pPr indent="0" marL="0">
              <a:buNone/>
            </a:pPr>
            <a:r>
              <a:rPr lang="en-US" sz="1400" dirty="0">
                <a:solidFill>
                  <a:schemeClr val="accent3"/>
                </a:solidFill>
              </a:rPr>
              <a:t>Full Kannada interface, Kannada Wikipedia text, Kannada speech and a Kannada PDF.</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Ask in Kannada or English</a:t>
            </a:r>
            <a:endParaRPr lang="en-US" sz="3400" dirty="0"/>
          </a:p>
        </p:txBody>
      </p:sp>
      <p:pic>
        <p:nvPicPr>
          <p:cNvPr id="3" name="Home page in English" descr="Home page in English">    </p:cNvPr>
          <p:cNvPicPr>
            <a:picLocks noChangeAspect="1"/>
          </p:cNvPicPr>
          <p:nvPr/>
        </p:nvPicPr>
        <p:blipFill>
          <a:blip r:embed="rId1"/>
          <a:stretch>
            <a:fillRect/>
          </a:stretch>
        </p:blipFill>
        <p:spPr>
          <a:xfrm>
            <a:off x="548640" y="1417320"/>
            <a:ext cx="5349240" cy="3529584"/>
          </a:xfrm>
          <a:prstGeom prst="rect">
            <a:avLst/>
          </a:prstGeom>
          <a:effectLst>
            <a:outerShdw sx="100000" sy="100000" kx="0" ky="0" algn="bl" rotWithShape="0" blurRad="127000" dist="38100" dir="5400000">
              <a:srgbClr val="000000">
                <a:alpha val="18000"/>
              </a:srgbClr>
            </a:outerShdw>
          </a:effectLst>
        </p:spPr>
      </p:pic>
      <p:pic>
        <p:nvPicPr>
          <p:cNvPr id="4" name="Home page in Kannada" descr="Home page in Kannada">    </p:cNvPr>
          <p:cNvPicPr>
            <a:picLocks noChangeAspect="1"/>
          </p:cNvPicPr>
          <p:nvPr/>
        </p:nvPicPr>
        <p:blipFill>
          <a:blip r:embed="rId2"/>
          <a:stretch>
            <a:fillRect/>
          </a:stretch>
        </p:blipFill>
        <p:spPr>
          <a:xfrm>
            <a:off x="6263640" y="1417320"/>
            <a:ext cx="5349240" cy="3529584"/>
          </a:xfrm>
          <a:prstGeom prst="rect">
            <a:avLst/>
          </a:prstGeom>
          <a:effectLst>
            <a:outerShdw sx="100000" sy="100000" kx="0" ky="0" algn="bl" rotWithShape="0" blurRad="127000" dist="38100" dir="5400000">
              <a:srgbClr val="000000">
                <a:alpha val="18000"/>
              </a:srgbClr>
            </a:outerShdw>
          </a:effectLst>
        </p:spPr>
      </p:pic>
      <p:sp>
        <p:nvSpPr>
          <p:cNvPr id="5" name="Text 1"/>
          <p:cNvSpPr txBox="1"/>
          <p:nvPr/>
        </p:nvSpPr>
        <p:spPr>
          <a:xfrm>
            <a:off x="548640" y="5120640"/>
            <a:ext cx="5349240" cy="365760"/>
          </a:xfrm>
          <a:prstGeom prst="rect">
            <a:avLst/>
          </a:prstGeom>
          <a:noFill/>
          <a:ln/>
        </p:spPr>
        <p:txBody>
          <a:bodyPr wrap="square" lIns="0" tIns="0" rIns="0" bIns="0" rtlCol="0" anchor="t"/>
          <a:lstStyle/>
          <a:p>
            <a:pPr indent="0" marL="0">
              <a:buNone/>
            </a:pPr>
            <a:r>
              <a:rPr lang="en-US" sz="1500" b="1" dirty="0">
                <a:solidFill>
                  <a:schemeClr val="tx1"/>
                </a:solidFill>
              </a:rPr>
              <a:t>English: </a:t>
            </a:r>
            <a:pPr indent="0" marL="0">
              <a:buNone/>
            </a:pPr>
            <a:r>
              <a:rPr lang="en-US" sz="1500" dirty="0">
                <a:solidFill>
                  <a:schemeClr val="tx1"/>
                </a:solidFill>
              </a:rPr>
              <a:t>speak, type, or tap a one-tap example</a:t>
            </a:r>
            <a:endParaRPr lang="en-US" sz="1500" dirty="0"/>
          </a:p>
        </p:txBody>
      </p:sp>
      <p:sp>
        <p:nvSpPr>
          <p:cNvPr id="6" name="Text 2"/>
          <p:cNvSpPr txBox="1"/>
          <p:nvPr/>
        </p:nvSpPr>
        <p:spPr>
          <a:xfrm>
            <a:off x="6263640" y="5120640"/>
            <a:ext cx="5349240" cy="365760"/>
          </a:xfrm>
          <a:prstGeom prst="rect">
            <a:avLst/>
          </a:prstGeom>
          <a:noFill/>
          <a:ln/>
        </p:spPr>
        <p:txBody>
          <a:bodyPr wrap="square" lIns="0" tIns="0" rIns="0" bIns="0" rtlCol="0" anchor="t"/>
          <a:lstStyle/>
          <a:p>
            <a:pPr indent="0" marL="0">
              <a:buNone/>
            </a:pPr>
            <a:r>
              <a:rPr lang="en-US" sz="1500" b="1" dirty="0">
                <a:solidFill>
                  <a:schemeClr val="tx1"/>
                </a:solidFill>
              </a:rPr>
              <a:t>Kannada: </a:t>
            </a:r>
            <a:pPr indent="0" marL="0">
              <a:buNone/>
            </a:pPr>
            <a:r>
              <a:rPr lang="en-US" sz="1500" dirty="0">
                <a:solidFill>
                  <a:schemeClr val="tx1"/>
                </a:solidFill>
              </a:rPr>
              <a:t>the whole site switches with one tap: menus, plans, PDF</a:t>
            </a:r>
            <a:endParaRPr lang="en-US" sz="1500" dirty="0"/>
          </a:p>
        </p:txBody>
      </p:sp>
      <p:sp>
        <p:nvSpPr>
          <p:cNvPr id="7" name="Text 3"/>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500" dirty="0">
                <a:solidFill>
                  <a:schemeClr val="accent3"/>
                </a:solidFill>
              </a:rPr>
              <a:t>Five pages: Home, Plan a trip, My trip, Explore Karnataka, and Help &amp; safety.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traveller gets</a:t>
            </a:r>
            <a:endParaRPr lang="en-US" sz="3400" dirty="0"/>
          </a:p>
        </p:txBody>
      </p:sp>
      <p:pic>
        <p:nvPicPr>
          <p:cNvPr id="3" name="Trip page in English" descr="Trip page in English">    </p:cNvPr>
          <p:cNvPicPr>
            <a:picLocks noChangeAspect="1"/>
          </p:cNvPicPr>
          <p:nvPr/>
        </p:nvPicPr>
        <p:blipFill>
          <a:blip r:embed="rId1"/>
          <a:stretch>
            <a:fillRect/>
          </a:stretch>
        </p:blipFill>
        <p:spPr>
          <a:xfrm>
            <a:off x="548640" y="1371600"/>
            <a:ext cx="5120640" cy="2395728"/>
          </a:xfrm>
          <a:prstGeom prst="rect">
            <a:avLst/>
          </a:prstGeom>
          <a:effectLst>
            <a:outerShdw sx="100000" sy="100000" kx="0" ky="0" algn="bl" rotWithShape="0" blurRad="127000" dist="38100" dir="5400000">
              <a:srgbClr val="000000">
                <a:alpha val="18000"/>
              </a:srgbClr>
            </a:outerShdw>
          </a:effectLst>
        </p:spPr>
      </p:pic>
      <p:pic>
        <p:nvPicPr>
          <p:cNvPr id="4" name="Trip page in Kannada" descr="Trip page in Kannada">    </p:cNvPr>
          <p:cNvPicPr>
            <a:picLocks noChangeAspect="1"/>
          </p:cNvPicPr>
          <p:nvPr/>
        </p:nvPicPr>
        <p:blipFill>
          <a:blip r:embed="rId2"/>
          <a:stretch>
            <a:fillRect/>
          </a:stretch>
        </p:blipFill>
        <p:spPr>
          <a:xfrm>
            <a:off x="548640" y="3931920"/>
            <a:ext cx="5120640" cy="2395728"/>
          </a:xfrm>
          <a:prstGeom prst="rect">
            <a:avLst/>
          </a:prstGeom>
          <a:effectLst>
            <a:outerShdw sx="100000" sy="100000" kx="0" ky="0" algn="bl" rotWithShape="0" blurRad="127000" dist="38100" dir="5400000">
              <a:srgbClr val="000000">
                <a:alpha val="18000"/>
              </a:srgbClr>
            </a:outerShdw>
          </a:effectLst>
        </p:spPr>
      </p:pic>
      <p:sp>
        <p:nvSpPr>
          <p:cNvPr id="5" name="Feature 1 circle"/>
          <p:cNvSpPr/>
          <p:nvPr/>
        </p:nvSpPr>
        <p:spPr>
          <a:xfrm>
            <a:off x="6172200" y="1463040"/>
            <a:ext cx="457200" cy="457200"/>
          </a:xfrm>
          <a:prstGeom prst="ellipse">
            <a:avLst/>
          </a:prstGeom>
          <a:solidFill>
            <a:schemeClr val="accent1"/>
          </a:solidFill>
          <a:ln/>
        </p:spPr>
      </p:sp>
      <p:pic>
        <p:nvPicPr>
          <p:cNvPr id="6" name="Feature 1 icon" descr="Feature 1">    </p:cNvPr>
          <p:cNvPicPr>
            <a:picLocks noChangeAspect="1"/>
          </p:cNvPicPr>
          <p:nvPr/>
        </p:nvPicPr>
        <p:blipFill>
          <a:blip r:embed="rId3"/>
          <a:stretch>
            <a:fillRect/>
          </a:stretch>
        </p:blipFill>
        <p:spPr>
          <a:xfrm>
            <a:off x="6286500" y="1577340"/>
            <a:ext cx="228600" cy="228600"/>
          </a:xfrm>
          <a:prstGeom prst="rect">
            <a:avLst/>
          </a:prstGeom>
        </p:spPr>
      </p:pic>
      <p:sp>
        <p:nvSpPr>
          <p:cNvPr id="7" name="Text 2"/>
          <p:cNvSpPr txBox="1"/>
          <p:nvPr/>
        </p:nvSpPr>
        <p:spPr>
          <a:xfrm>
            <a:off x="6812280" y="1463040"/>
            <a:ext cx="4800600" cy="457200"/>
          </a:xfrm>
          <a:prstGeom prst="rect">
            <a:avLst/>
          </a:prstGeom>
          <a:noFill/>
          <a:ln/>
        </p:spPr>
        <p:txBody>
          <a:bodyPr wrap="square" lIns="0" tIns="0" rIns="0" bIns="0" rtlCol="0" anchor="ctr"/>
          <a:lstStyle/>
          <a:p>
            <a:pPr indent="0" marL="0">
              <a:buNone/>
            </a:pPr>
            <a:r>
              <a:rPr lang="en-US" sz="1500" dirty="0">
                <a:solidFill>
                  <a:schemeClr val="tx1"/>
                </a:solidFill>
              </a:rPr>
              <a:t>Route map with real road distances, one colour per day</a:t>
            </a:r>
            <a:endParaRPr lang="en-US" sz="1500" dirty="0"/>
          </a:p>
        </p:txBody>
      </p:sp>
      <p:sp>
        <p:nvSpPr>
          <p:cNvPr id="8" name="Feature 2 circle"/>
          <p:cNvSpPr/>
          <p:nvPr/>
        </p:nvSpPr>
        <p:spPr>
          <a:xfrm>
            <a:off x="6172200" y="2075688"/>
            <a:ext cx="457200" cy="457200"/>
          </a:xfrm>
          <a:prstGeom prst="ellipse">
            <a:avLst/>
          </a:prstGeom>
          <a:solidFill>
            <a:schemeClr val="accent1"/>
          </a:solidFill>
          <a:ln/>
        </p:spPr>
      </p:sp>
      <p:pic>
        <p:nvPicPr>
          <p:cNvPr id="9" name="Feature 2 icon" descr="Feature 2">    </p:cNvPr>
          <p:cNvPicPr>
            <a:picLocks noChangeAspect="1"/>
          </p:cNvPicPr>
          <p:nvPr/>
        </p:nvPicPr>
        <p:blipFill>
          <a:blip r:embed="rId4"/>
          <a:stretch>
            <a:fillRect/>
          </a:stretch>
        </p:blipFill>
        <p:spPr>
          <a:xfrm>
            <a:off x="6286500" y="2189988"/>
            <a:ext cx="228600" cy="228600"/>
          </a:xfrm>
          <a:prstGeom prst="rect">
            <a:avLst/>
          </a:prstGeom>
        </p:spPr>
      </p:pic>
      <p:sp>
        <p:nvSpPr>
          <p:cNvPr id="10" name="Text 4"/>
          <p:cNvSpPr txBox="1"/>
          <p:nvPr/>
        </p:nvSpPr>
        <p:spPr>
          <a:xfrm>
            <a:off x="6812280" y="2075688"/>
            <a:ext cx="4800600" cy="457200"/>
          </a:xfrm>
          <a:prstGeom prst="rect">
            <a:avLst/>
          </a:prstGeom>
          <a:noFill/>
          <a:ln/>
        </p:spPr>
        <p:txBody>
          <a:bodyPr wrap="square" lIns="0" tIns="0" rIns="0" bIns="0" rtlCol="0" anchor="ctr"/>
          <a:lstStyle/>
          <a:p>
            <a:pPr indent="0" marL="0">
              <a:buNone/>
            </a:pPr>
            <a:r>
              <a:rPr lang="en-US" sz="1500" dirty="0">
                <a:solidFill>
                  <a:schemeClr val="tx1"/>
                </a:solidFill>
              </a:rPr>
              <a:t>Photo gallery, Wikipedia facts and what travellers say</a:t>
            </a:r>
            <a:endParaRPr lang="en-US" sz="1500" dirty="0"/>
          </a:p>
        </p:txBody>
      </p:sp>
      <p:sp>
        <p:nvSpPr>
          <p:cNvPr id="11" name="Feature 3 circle"/>
          <p:cNvSpPr/>
          <p:nvPr/>
        </p:nvSpPr>
        <p:spPr>
          <a:xfrm>
            <a:off x="6172200" y="2688336"/>
            <a:ext cx="457200" cy="457200"/>
          </a:xfrm>
          <a:prstGeom prst="ellipse">
            <a:avLst/>
          </a:prstGeom>
          <a:solidFill>
            <a:schemeClr val="accent1"/>
          </a:solidFill>
          <a:ln/>
        </p:spPr>
      </p:sp>
      <p:pic>
        <p:nvPicPr>
          <p:cNvPr id="12" name="Feature 3 icon" descr="Feature 3">    </p:cNvPr>
          <p:cNvPicPr>
            <a:picLocks noChangeAspect="1"/>
          </p:cNvPicPr>
          <p:nvPr/>
        </p:nvPicPr>
        <p:blipFill>
          <a:blip r:embed="rId5"/>
          <a:stretch>
            <a:fillRect/>
          </a:stretch>
        </p:blipFill>
        <p:spPr>
          <a:xfrm>
            <a:off x="6286500" y="2802636"/>
            <a:ext cx="228600" cy="228600"/>
          </a:xfrm>
          <a:prstGeom prst="rect">
            <a:avLst/>
          </a:prstGeom>
        </p:spPr>
      </p:pic>
      <p:sp>
        <p:nvSpPr>
          <p:cNvPr id="13" name="Text 6"/>
          <p:cNvSpPr txBox="1"/>
          <p:nvPr/>
        </p:nvSpPr>
        <p:spPr>
          <a:xfrm>
            <a:off x="6812280" y="2688336"/>
            <a:ext cx="4800600" cy="457200"/>
          </a:xfrm>
          <a:prstGeom prst="rect">
            <a:avLst/>
          </a:prstGeom>
          <a:noFill/>
          <a:ln/>
        </p:spPr>
        <p:txBody>
          <a:bodyPr wrap="square" lIns="0" tIns="0" rIns="0" bIns="0" rtlCol="0" anchor="ctr"/>
          <a:lstStyle/>
          <a:p>
            <a:pPr indent="0" marL="0">
              <a:buNone/>
            </a:pPr>
            <a:r>
              <a:rPr lang="en-US" sz="1500" dirty="0">
                <a:solidFill>
                  <a:schemeClr val="tx1"/>
                </a:solidFill>
              </a:rPr>
              <a:t>Weather for each day and season warnings</a:t>
            </a:r>
            <a:endParaRPr lang="en-US" sz="1500" dirty="0"/>
          </a:p>
        </p:txBody>
      </p:sp>
      <p:sp>
        <p:nvSpPr>
          <p:cNvPr id="14" name="Feature 4 circle"/>
          <p:cNvSpPr/>
          <p:nvPr/>
        </p:nvSpPr>
        <p:spPr>
          <a:xfrm>
            <a:off x="6172200" y="3300984"/>
            <a:ext cx="457200" cy="457200"/>
          </a:xfrm>
          <a:prstGeom prst="ellipse">
            <a:avLst/>
          </a:prstGeom>
          <a:solidFill>
            <a:schemeClr val="accent1"/>
          </a:solidFill>
          <a:ln/>
        </p:spPr>
      </p:sp>
      <p:pic>
        <p:nvPicPr>
          <p:cNvPr id="15" name="Feature 4 icon" descr="Feature 4">    </p:cNvPr>
          <p:cNvPicPr>
            <a:picLocks noChangeAspect="1"/>
          </p:cNvPicPr>
          <p:nvPr/>
        </p:nvPicPr>
        <p:blipFill>
          <a:blip r:embed="rId6"/>
          <a:stretch>
            <a:fillRect/>
          </a:stretch>
        </p:blipFill>
        <p:spPr>
          <a:xfrm>
            <a:off x="6286500" y="3415284"/>
            <a:ext cx="228600" cy="228600"/>
          </a:xfrm>
          <a:prstGeom prst="rect">
            <a:avLst/>
          </a:prstGeom>
        </p:spPr>
      </p:pic>
      <p:sp>
        <p:nvSpPr>
          <p:cNvPr id="16" name="Text 8"/>
          <p:cNvSpPr txBox="1"/>
          <p:nvPr/>
        </p:nvSpPr>
        <p:spPr>
          <a:xfrm>
            <a:off x="6812280" y="3300984"/>
            <a:ext cx="4800600" cy="457200"/>
          </a:xfrm>
          <a:prstGeom prst="rect">
            <a:avLst/>
          </a:prstGeom>
          <a:noFill/>
          <a:ln/>
        </p:spPr>
        <p:txBody>
          <a:bodyPr wrap="square" lIns="0" tIns="0" rIns="0" bIns="0" rtlCol="0" anchor="ctr"/>
          <a:lstStyle/>
          <a:p>
            <a:pPr indent="0" marL="0">
              <a:buNone/>
            </a:pPr>
            <a:r>
              <a:rPr lang="en-US" sz="1500" dirty="0">
                <a:solidFill>
                  <a:schemeClr val="tx1"/>
                </a:solidFill>
              </a:rPr>
              <a:t>Ways to get there: cab, KSRTC bus, train, auto or walk</a:t>
            </a:r>
            <a:endParaRPr lang="en-US" sz="1500" dirty="0"/>
          </a:p>
        </p:txBody>
      </p:sp>
      <p:sp>
        <p:nvSpPr>
          <p:cNvPr id="17" name="Feature 5 circle"/>
          <p:cNvSpPr/>
          <p:nvPr/>
        </p:nvSpPr>
        <p:spPr>
          <a:xfrm>
            <a:off x="6172200" y="3913632"/>
            <a:ext cx="457200" cy="457200"/>
          </a:xfrm>
          <a:prstGeom prst="ellipse">
            <a:avLst/>
          </a:prstGeom>
          <a:solidFill>
            <a:schemeClr val="accent1"/>
          </a:solidFill>
          <a:ln/>
        </p:spPr>
      </p:sp>
      <p:pic>
        <p:nvPicPr>
          <p:cNvPr id="18" name="Feature 5 icon" descr="Feature 5">    </p:cNvPr>
          <p:cNvPicPr>
            <a:picLocks noChangeAspect="1"/>
          </p:cNvPicPr>
          <p:nvPr/>
        </p:nvPicPr>
        <p:blipFill>
          <a:blip r:embed="rId7"/>
          <a:stretch>
            <a:fillRect/>
          </a:stretch>
        </p:blipFill>
        <p:spPr>
          <a:xfrm>
            <a:off x="6286500" y="4027932"/>
            <a:ext cx="228600" cy="228600"/>
          </a:xfrm>
          <a:prstGeom prst="rect">
            <a:avLst/>
          </a:prstGeom>
        </p:spPr>
      </p:pic>
      <p:sp>
        <p:nvSpPr>
          <p:cNvPr id="19" name="Text 10"/>
          <p:cNvSpPr txBox="1"/>
          <p:nvPr/>
        </p:nvSpPr>
        <p:spPr>
          <a:xfrm>
            <a:off x="6812280" y="3913632"/>
            <a:ext cx="4800600" cy="457200"/>
          </a:xfrm>
          <a:prstGeom prst="rect">
            <a:avLst/>
          </a:prstGeom>
          <a:noFill/>
          <a:ln/>
        </p:spPr>
        <p:txBody>
          <a:bodyPr wrap="square" lIns="0" tIns="0" rIns="0" bIns="0" rtlCol="0" anchor="ctr"/>
          <a:lstStyle/>
          <a:p>
            <a:pPr indent="0" marL="0">
              <a:buNone/>
            </a:pPr>
            <a:r>
              <a:rPr lang="en-US" sz="1500" dirty="0">
                <a:solidFill>
                  <a:schemeClr val="tx1"/>
                </a:solidFill>
              </a:rPr>
              <a:t>Places to stay nearby and nearby sights</a:t>
            </a:r>
            <a:endParaRPr lang="en-US" sz="1500" dirty="0"/>
          </a:p>
        </p:txBody>
      </p:sp>
      <p:sp>
        <p:nvSpPr>
          <p:cNvPr id="20" name="Feature 6 circle"/>
          <p:cNvSpPr/>
          <p:nvPr/>
        </p:nvSpPr>
        <p:spPr>
          <a:xfrm>
            <a:off x="6172200" y="4526280"/>
            <a:ext cx="457200" cy="457200"/>
          </a:xfrm>
          <a:prstGeom prst="ellipse">
            <a:avLst/>
          </a:prstGeom>
          <a:solidFill>
            <a:schemeClr val="accent1"/>
          </a:solidFill>
          <a:ln/>
        </p:spPr>
      </p:sp>
      <p:pic>
        <p:nvPicPr>
          <p:cNvPr id="21" name="Feature 6 icon" descr="Feature 6">    </p:cNvPr>
          <p:cNvPicPr>
            <a:picLocks noChangeAspect="1"/>
          </p:cNvPicPr>
          <p:nvPr/>
        </p:nvPicPr>
        <p:blipFill>
          <a:blip r:embed="rId8"/>
          <a:stretch>
            <a:fillRect/>
          </a:stretch>
        </p:blipFill>
        <p:spPr>
          <a:xfrm>
            <a:off x="6286500" y="4640580"/>
            <a:ext cx="228600" cy="228600"/>
          </a:xfrm>
          <a:prstGeom prst="rect">
            <a:avLst/>
          </a:prstGeom>
        </p:spPr>
      </p:pic>
      <p:sp>
        <p:nvSpPr>
          <p:cNvPr id="22" name="Text 12"/>
          <p:cNvSpPr txBox="1"/>
          <p:nvPr/>
        </p:nvSpPr>
        <p:spPr>
          <a:xfrm>
            <a:off x="6812280" y="4526280"/>
            <a:ext cx="4800600" cy="457200"/>
          </a:xfrm>
          <a:prstGeom prst="rect">
            <a:avLst/>
          </a:prstGeom>
          <a:noFill/>
          <a:ln/>
        </p:spPr>
        <p:txBody>
          <a:bodyPr wrap="square" lIns="0" tIns="0" rIns="0" bIns="0" rtlCol="0" anchor="ctr"/>
          <a:lstStyle/>
          <a:p>
            <a:pPr indent="0" marL="0">
              <a:buNone/>
            </a:pPr>
            <a:r>
              <a:rPr lang="en-US" sz="1500" dirty="0">
                <a:solidFill>
                  <a:schemeClr val="tx1"/>
                </a:solidFill>
              </a:rPr>
              <a:t>Cost breakdown compared with your budget</a:t>
            </a:r>
            <a:endParaRPr lang="en-US" sz="1500" dirty="0"/>
          </a:p>
        </p:txBody>
      </p:sp>
      <p:sp>
        <p:nvSpPr>
          <p:cNvPr id="23" name="Feature 7 circle"/>
          <p:cNvSpPr/>
          <p:nvPr/>
        </p:nvSpPr>
        <p:spPr>
          <a:xfrm>
            <a:off x="6172200" y="5138928"/>
            <a:ext cx="457200" cy="457200"/>
          </a:xfrm>
          <a:prstGeom prst="ellipse">
            <a:avLst/>
          </a:prstGeom>
          <a:solidFill>
            <a:schemeClr val="accent1"/>
          </a:solidFill>
          <a:ln/>
        </p:spPr>
      </p:sp>
      <p:pic>
        <p:nvPicPr>
          <p:cNvPr id="24" name="Feature 7 icon" descr="Feature 7">    </p:cNvPr>
          <p:cNvPicPr>
            <a:picLocks noChangeAspect="1"/>
          </p:cNvPicPr>
          <p:nvPr/>
        </p:nvPicPr>
        <p:blipFill>
          <a:blip r:embed="rId9"/>
          <a:stretch>
            <a:fillRect/>
          </a:stretch>
        </p:blipFill>
        <p:spPr>
          <a:xfrm>
            <a:off x="6286500" y="5253228"/>
            <a:ext cx="228600" cy="228600"/>
          </a:xfrm>
          <a:prstGeom prst="rect">
            <a:avLst/>
          </a:prstGeom>
        </p:spPr>
      </p:pic>
      <p:sp>
        <p:nvSpPr>
          <p:cNvPr id="25" name="Text 14"/>
          <p:cNvSpPr txBox="1"/>
          <p:nvPr/>
        </p:nvSpPr>
        <p:spPr>
          <a:xfrm>
            <a:off x="6812280" y="5138928"/>
            <a:ext cx="4800600" cy="457200"/>
          </a:xfrm>
          <a:prstGeom prst="rect">
            <a:avLst/>
          </a:prstGeom>
          <a:noFill/>
          <a:ln/>
        </p:spPr>
        <p:txBody>
          <a:bodyPr wrap="square" lIns="0" tIns="0" rIns="0" bIns="0" rtlCol="0" anchor="ctr"/>
          <a:lstStyle/>
          <a:p>
            <a:pPr indent="0" marL="0">
              <a:buNone/>
            </a:pPr>
            <a:r>
              <a:rPr lang="en-US" sz="1500" dirty="0">
                <a:solidFill>
                  <a:schemeClr val="tx1"/>
                </a:solidFill>
              </a:rPr>
              <a:t>AI trip story you can listen to in Kannada</a:t>
            </a:r>
            <a:endParaRPr lang="en-US" sz="1500" dirty="0"/>
          </a:p>
        </p:txBody>
      </p:sp>
      <p:sp>
        <p:nvSpPr>
          <p:cNvPr id="26" name="Feature 8 circle"/>
          <p:cNvSpPr/>
          <p:nvPr/>
        </p:nvSpPr>
        <p:spPr>
          <a:xfrm>
            <a:off x="6172200" y="5751576"/>
            <a:ext cx="457200" cy="457200"/>
          </a:xfrm>
          <a:prstGeom prst="ellipse">
            <a:avLst/>
          </a:prstGeom>
          <a:solidFill>
            <a:schemeClr val="accent1"/>
          </a:solidFill>
          <a:ln/>
        </p:spPr>
      </p:sp>
      <p:pic>
        <p:nvPicPr>
          <p:cNvPr id="27" name="Feature 8 icon" descr="Feature 8">    </p:cNvPr>
          <p:cNvPicPr>
            <a:picLocks noChangeAspect="1"/>
          </p:cNvPicPr>
          <p:nvPr/>
        </p:nvPicPr>
        <p:blipFill>
          <a:blip r:embed="rId10"/>
          <a:stretch>
            <a:fillRect/>
          </a:stretch>
        </p:blipFill>
        <p:spPr>
          <a:xfrm>
            <a:off x="6286500" y="5865876"/>
            <a:ext cx="228600" cy="228600"/>
          </a:xfrm>
          <a:prstGeom prst="rect">
            <a:avLst/>
          </a:prstGeom>
        </p:spPr>
      </p:pic>
      <p:sp>
        <p:nvSpPr>
          <p:cNvPr id="28" name="Text 16"/>
          <p:cNvSpPr txBox="1"/>
          <p:nvPr/>
        </p:nvSpPr>
        <p:spPr>
          <a:xfrm>
            <a:off x="6812280" y="5751576"/>
            <a:ext cx="4800600" cy="457200"/>
          </a:xfrm>
          <a:prstGeom prst="rect">
            <a:avLst/>
          </a:prstGeom>
          <a:noFill/>
          <a:ln/>
        </p:spPr>
        <p:txBody>
          <a:bodyPr wrap="square" lIns="0" tIns="0" rIns="0" bIns="0" rtlCol="0" anchor="ctr"/>
          <a:lstStyle/>
          <a:p>
            <a:pPr indent="0" marL="0">
              <a:buNone/>
            </a:pPr>
            <a:r>
              <a:rPr lang="en-US" sz="1500" dirty="0">
                <a:solidFill>
                  <a:schemeClr val="tx1"/>
                </a:solidFill>
              </a:rPr>
              <a:t>PDF of the full plan, plus emergency helplines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3" name="Stack card 1"/>
          <p:cNvSpPr/>
          <p:nvPr/>
        </p:nvSpPr>
        <p:spPr>
          <a:xfrm>
            <a:off x="548640" y="1371600"/>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4" name="App circle"/>
          <p:cNvSpPr/>
          <p:nvPr/>
        </p:nvSpPr>
        <p:spPr>
          <a:xfrm>
            <a:off x="749808" y="1554480"/>
            <a:ext cx="685800" cy="685800"/>
          </a:xfrm>
          <a:prstGeom prst="ellipse">
            <a:avLst/>
          </a:prstGeom>
          <a:solidFill>
            <a:schemeClr val="accent1"/>
          </a:solidFill>
          <a:ln/>
        </p:spPr>
      </p:sp>
      <p:pic>
        <p:nvPicPr>
          <p:cNvPr id="5" name="App icon" descr="App">    </p:cNvPr>
          <p:cNvPicPr>
            <a:picLocks noChangeAspect="1"/>
          </p:cNvPicPr>
          <p:nvPr/>
        </p:nvPicPr>
        <p:blipFill>
          <a:blip r:embed="rId1"/>
          <a:stretch>
            <a:fillRect/>
          </a:stretch>
        </p:blipFill>
        <p:spPr>
          <a:xfrm>
            <a:off x="921258" y="1725930"/>
            <a:ext cx="342900" cy="342900"/>
          </a:xfrm>
          <a:prstGeom prst="rect">
            <a:avLst/>
          </a:prstGeom>
        </p:spPr>
      </p:pic>
      <p:sp>
        <p:nvSpPr>
          <p:cNvPr id="6" name="Text 3"/>
          <p:cNvSpPr txBox="1"/>
          <p:nvPr/>
        </p:nvSpPr>
        <p:spPr>
          <a:xfrm>
            <a:off x="1645920" y="1499616"/>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App</a:t>
            </a:r>
            <a:endParaRPr lang="en-US" sz="1600" dirty="0"/>
          </a:p>
        </p:txBody>
      </p:sp>
      <p:sp>
        <p:nvSpPr>
          <p:cNvPr id="7" name="Text 4"/>
          <p:cNvSpPr txBox="1"/>
          <p:nvPr/>
        </p:nvSpPr>
        <p:spPr>
          <a:xfrm>
            <a:off x="1645920" y="1828800"/>
            <a:ext cx="4160520" cy="548640"/>
          </a:xfrm>
          <a:prstGeom prst="rect">
            <a:avLst/>
          </a:prstGeom>
          <a:noFill/>
          <a:ln/>
        </p:spPr>
        <p:txBody>
          <a:bodyPr wrap="square" lIns="0" tIns="0" rIns="0" bIns="0" rtlCol="0" anchor="t"/>
          <a:lstStyle/>
          <a:p>
            <a:pPr indent="0" marL="0">
              <a:buNone/>
            </a:pPr>
            <a:r>
              <a:rPr lang="en-US" sz="1400" dirty="0">
                <a:solidFill>
                  <a:schemeClr val="tx1"/>
                </a:solidFill>
              </a:rPr>
              <a:t>Python 3.12, Streamlit (5 pages, custom CSS), pandas</a:t>
            </a:r>
            <a:endParaRPr lang="en-US" sz="1400" dirty="0"/>
          </a:p>
        </p:txBody>
      </p:sp>
      <p:sp>
        <p:nvSpPr>
          <p:cNvPr id="8" name="Stack card 2"/>
          <p:cNvSpPr/>
          <p:nvPr/>
        </p:nvSpPr>
        <p:spPr>
          <a:xfrm>
            <a:off x="6172200" y="1371600"/>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9" name="AI circle"/>
          <p:cNvSpPr/>
          <p:nvPr/>
        </p:nvSpPr>
        <p:spPr>
          <a:xfrm>
            <a:off x="6373368" y="1554480"/>
            <a:ext cx="685800" cy="685800"/>
          </a:xfrm>
          <a:prstGeom prst="ellipse">
            <a:avLst/>
          </a:prstGeom>
          <a:solidFill>
            <a:schemeClr val="accent1"/>
          </a:solidFill>
          <a:ln/>
        </p:spPr>
      </p:sp>
      <p:pic>
        <p:nvPicPr>
          <p:cNvPr id="10" name="AI icon" descr="AI">    </p:cNvPr>
          <p:cNvPicPr>
            <a:picLocks noChangeAspect="1"/>
          </p:cNvPicPr>
          <p:nvPr/>
        </p:nvPicPr>
        <p:blipFill>
          <a:blip r:embed="rId2"/>
          <a:stretch>
            <a:fillRect/>
          </a:stretch>
        </p:blipFill>
        <p:spPr>
          <a:xfrm>
            <a:off x="6544818" y="1725930"/>
            <a:ext cx="342900" cy="342900"/>
          </a:xfrm>
          <a:prstGeom prst="rect">
            <a:avLst/>
          </a:prstGeom>
        </p:spPr>
      </p:pic>
      <p:sp>
        <p:nvSpPr>
          <p:cNvPr id="11" name="Text 7"/>
          <p:cNvSpPr txBox="1"/>
          <p:nvPr/>
        </p:nvSpPr>
        <p:spPr>
          <a:xfrm>
            <a:off x="7269480" y="1499616"/>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AI</a:t>
            </a:r>
            <a:endParaRPr lang="en-US" sz="1600" dirty="0"/>
          </a:p>
        </p:txBody>
      </p:sp>
      <p:sp>
        <p:nvSpPr>
          <p:cNvPr id="12" name="Text 8"/>
          <p:cNvSpPr txBox="1"/>
          <p:nvPr/>
        </p:nvSpPr>
        <p:spPr>
          <a:xfrm>
            <a:off x="7269480" y="1828800"/>
            <a:ext cx="4160520" cy="548640"/>
          </a:xfrm>
          <a:prstGeom prst="rect">
            <a:avLst/>
          </a:prstGeom>
          <a:noFill/>
          <a:ln/>
        </p:spPr>
        <p:txBody>
          <a:bodyPr wrap="square" lIns="0" tIns="0" rIns="0" bIns="0" rtlCol="0" anchor="t"/>
          <a:lstStyle/>
          <a:p>
            <a:pPr indent="0" marL="0">
              <a:buNone/>
            </a:pPr>
            <a:r>
              <a:rPr lang="en-US" sz="1400" dirty="0">
                <a:solidFill>
                  <a:schemeClr val="tx1"/>
                </a:solidFill>
              </a:rPr>
              <a:t>Google Gemini (google-genai): voice and text understanding, trip story</a:t>
            </a:r>
            <a:endParaRPr lang="en-US" sz="1400" dirty="0"/>
          </a:p>
        </p:txBody>
      </p:sp>
      <p:sp>
        <p:nvSpPr>
          <p:cNvPr id="13" name="Stack card 3"/>
          <p:cNvSpPr/>
          <p:nvPr/>
        </p:nvSpPr>
        <p:spPr>
          <a:xfrm>
            <a:off x="548640" y="2587752"/>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4" name="Maps and routes circle"/>
          <p:cNvSpPr/>
          <p:nvPr/>
        </p:nvSpPr>
        <p:spPr>
          <a:xfrm>
            <a:off x="749808" y="2770632"/>
            <a:ext cx="685800" cy="685800"/>
          </a:xfrm>
          <a:prstGeom prst="ellipse">
            <a:avLst/>
          </a:prstGeom>
          <a:solidFill>
            <a:schemeClr val="accent1"/>
          </a:solidFill>
          <a:ln/>
        </p:spPr>
      </p:sp>
      <p:pic>
        <p:nvPicPr>
          <p:cNvPr id="15" name="Maps and routes icon" descr="Maps and routes">    </p:cNvPr>
          <p:cNvPicPr>
            <a:picLocks noChangeAspect="1"/>
          </p:cNvPicPr>
          <p:nvPr/>
        </p:nvPicPr>
        <p:blipFill>
          <a:blip r:embed="rId3"/>
          <a:stretch>
            <a:fillRect/>
          </a:stretch>
        </p:blipFill>
        <p:spPr>
          <a:xfrm>
            <a:off x="921258" y="2942082"/>
            <a:ext cx="342900" cy="342900"/>
          </a:xfrm>
          <a:prstGeom prst="rect">
            <a:avLst/>
          </a:prstGeom>
        </p:spPr>
      </p:pic>
      <p:sp>
        <p:nvSpPr>
          <p:cNvPr id="16" name="Text 11"/>
          <p:cNvSpPr txBox="1"/>
          <p:nvPr/>
        </p:nvSpPr>
        <p:spPr>
          <a:xfrm>
            <a:off x="1645920" y="2715768"/>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Maps and routes</a:t>
            </a:r>
            <a:endParaRPr lang="en-US" sz="1600" dirty="0"/>
          </a:p>
        </p:txBody>
      </p:sp>
      <p:sp>
        <p:nvSpPr>
          <p:cNvPr id="17" name="Text 12"/>
          <p:cNvSpPr txBox="1"/>
          <p:nvPr/>
        </p:nvSpPr>
        <p:spPr>
          <a:xfrm>
            <a:off x="1645920" y="3044952"/>
            <a:ext cx="4160520" cy="548640"/>
          </a:xfrm>
          <a:prstGeom prst="rect">
            <a:avLst/>
          </a:prstGeom>
          <a:noFill/>
          <a:ln/>
        </p:spPr>
        <p:txBody>
          <a:bodyPr wrap="square" lIns="0" tIns="0" rIns="0" bIns="0" rtlCol="0" anchor="t"/>
          <a:lstStyle/>
          <a:p>
            <a:pPr indent="0" marL="0">
              <a:buNone/>
            </a:pPr>
            <a:r>
              <a:rPr lang="en-US" sz="1400" dirty="0">
                <a:solidFill>
                  <a:schemeClr val="tx1"/>
                </a:solidFill>
              </a:rPr>
              <a:t>Folium and Leaflet on OpenStreetMap; OSRM road routing</a:t>
            </a:r>
            <a:endParaRPr lang="en-US" sz="1400" dirty="0"/>
          </a:p>
        </p:txBody>
      </p:sp>
      <p:sp>
        <p:nvSpPr>
          <p:cNvPr id="18" name="Stack card 4"/>
          <p:cNvSpPr/>
          <p:nvPr/>
        </p:nvSpPr>
        <p:spPr>
          <a:xfrm>
            <a:off x="6172200" y="2587752"/>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19" name="Place content circle"/>
          <p:cNvSpPr/>
          <p:nvPr/>
        </p:nvSpPr>
        <p:spPr>
          <a:xfrm>
            <a:off x="6373368" y="2770632"/>
            <a:ext cx="685800" cy="685800"/>
          </a:xfrm>
          <a:prstGeom prst="ellipse">
            <a:avLst/>
          </a:prstGeom>
          <a:solidFill>
            <a:schemeClr val="accent1"/>
          </a:solidFill>
          <a:ln/>
        </p:spPr>
      </p:sp>
      <p:pic>
        <p:nvPicPr>
          <p:cNvPr id="20" name="Place content icon" descr="Place content">    </p:cNvPr>
          <p:cNvPicPr>
            <a:picLocks noChangeAspect="1"/>
          </p:cNvPicPr>
          <p:nvPr/>
        </p:nvPicPr>
        <p:blipFill>
          <a:blip r:embed="rId4"/>
          <a:stretch>
            <a:fillRect/>
          </a:stretch>
        </p:blipFill>
        <p:spPr>
          <a:xfrm>
            <a:off x="6544818" y="2942082"/>
            <a:ext cx="342900" cy="342900"/>
          </a:xfrm>
          <a:prstGeom prst="rect">
            <a:avLst/>
          </a:prstGeom>
        </p:spPr>
      </p:pic>
      <p:sp>
        <p:nvSpPr>
          <p:cNvPr id="21" name="Text 15"/>
          <p:cNvSpPr txBox="1"/>
          <p:nvPr/>
        </p:nvSpPr>
        <p:spPr>
          <a:xfrm>
            <a:off x="7269480" y="2715768"/>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Place content</a:t>
            </a:r>
            <a:endParaRPr lang="en-US" sz="1600" dirty="0"/>
          </a:p>
        </p:txBody>
      </p:sp>
      <p:sp>
        <p:nvSpPr>
          <p:cNvPr id="22" name="Text 16"/>
          <p:cNvSpPr txBox="1"/>
          <p:nvPr/>
        </p:nvSpPr>
        <p:spPr>
          <a:xfrm>
            <a:off x="7269480" y="3044952"/>
            <a:ext cx="4160520" cy="548640"/>
          </a:xfrm>
          <a:prstGeom prst="rect">
            <a:avLst/>
          </a:prstGeom>
          <a:noFill/>
          <a:ln/>
        </p:spPr>
        <p:txBody>
          <a:bodyPr wrap="square" lIns="0" tIns="0" rIns="0" bIns="0" rtlCol="0" anchor="t"/>
          <a:lstStyle/>
          <a:p>
            <a:pPr indent="0" marL="0">
              <a:buNone/>
            </a:pPr>
            <a:r>
              <a:rPr lang="en-US" sz="1400" dirty="0">
                <a:solidFill>
                  <a:schemeClr val="tx1"/>
                </a:solidFill>
              </a:rPr>
              <a:t>Wikipedia (English and Kannada), Wikimedia Commons photos, Wikivoyage notes</a:t>
            </a:r>
            <a:endParaRPr lang="en-US" sz="1400" dirty="0"/>
          </a:p>
        </p:txBody>
      </p:sp>
      <p:sp>
        <p:nvSpPr>
          <p:cNvPr id="23" name="Stack card 5"/>
          <p:cNvSpPr/>
          <p:nvPr/>
        </p:nvSpPr>
        <p:spPr>
          <a:xfrm>
            <a:off x="548640" y="3803904"/>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4" name="Weather and stays circle"/>
          <p:cNvSpPr/>
          <p:nvPr/>
        </p:nvSpPr>
        <p:spPr>
          <a:xfrm>
            <a:off x="749808" y="3986784"/>
            <a:ext cx="685800" cy="685800"/>
          </a:xfrm>
          <a:prstGeom prst="ellipse">
            <a:avLst/>
          </a:prstGeom>
          <a:solidFill>
            <a:schemeClr val="accent1"/>
          </a:solidFill>
          <a:ln/>
        </p:spPr>
      </p:sp>
      <p:pic>
        <p:nvPicPr>
          <p:cNvPr id="25" name="Weather and stays icon" descr="Weather and stays">    </p:cNvPr>
          <p:cNvPicPr>
            <a:picLocks noChangeAspect="1"/>
          </p:cNvPicPr>
          <p:nvPr/>
        </p:nvPicPr>
        <p:blipFill>
          <a:blip r:embed="rId5"/>
          <a:stretch>
            <a:fillRect/>
          </a:stretch>
        </p:blipFill>
        <p:spPr>
          <a:xfrm>
            <a:off x="921258" y="4158234"/>
            <a:ext cx="342900" cy="342900"/>
          </a:xfrm>
          <a:prstGeom prst="rect">
            <a:avLst/>
          </a:prstGeom>
        </p:spPr>
      </p:pic>
      <p:sp>
        <p:nvSpPr>
          <p:cNvPr id="26" name="Text 19"/>
          <p:cNvSpPr txBox="1"/>
          <p:nvPr/>
        </p:nvSpPr>
        <p:spPr>
          <a:xfrm>
            <a:off x="1645920" y="3931920"/>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Weather and stays</a:t>
            </a:r>
            <a:endParaRPr lang="en-US" sz="1600" dirty="0"/>
          </a:p>
        </p:txBody>
      </p:sp>
      <p:sp>
        <p:nvSpPr>
          <p:cNvPr id="27" name="Text 20"/>
          <p:cNvSpPr txBox="1"/>
          <p:nvPr/>
        </p:nvSpPr>
        <p:spPr>
          <a:xfrm>
            <a:off x="1645920" y="4261104"/>
            <a:ext cx="4160520" cy="548640"/>
          </a:xfrm>
          <a:prstGeom prst="rect">
            <a:avLst/>
          </a:prstGeom>
          <a:noFill/>
          <a:ln/>
        </p:spPr>
        <p:txBody>
          <a:bodyPr wrap="square" lIns="0" tIns="0" rIns="0" bIns="0" rtlCol="0" anchor="t"/>
          <a:lstStyle/>
          <a:p>
            <a:pPr indent="0" marL="0">
              <a:buNone/>
            </a:pPr>
            <a:r>
              <a:rPr lang="en-US" sz="1400" dirty="0">
                <a:solidFill>
                  <a:schemeClr val="tx1"/>
                </a:solidFill>
              </a:rPr>
              <a:t>Open-Meteo forecast and past-weather archive; OpenStreetMap Overpass for hotels</a:t>
            </a:r>
            <a:endParaRPr lang="en-US" sz="1400" dirty="0"/>
          </a:p>
        </p:txBody>
      </p:sp>
      <p:sp>
        <p:nvSpPr>
          <p:cNvPr id="28" name="Stack card 6"/>
          <p:cNvSpPr/>
          <p:nvPr/>
        </p:nvSpPr>
        <p:spPr>
          <a:xfrm>
            <a:off x="6172200" y="3803904"/>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29" name="Voice and documents circle"/>
          <p:cNvSpPr/>
          <p:nvPr/>
        </p:nvSpPr>
        <p:spPr>
          <a:xfrm>
            <a:off x="6373368" y="3986784"/>
            <a:ext cx="685800" cy="685800"/>
          </a:xfrm>
          <a:prstGeom prst="ellipse">
            <a:avLst/>
          </a:prstGeom>
          <a:solidFill>
            <a:schemeClr val="accent1"/>
          </a:solidFill>
          <a:ln/>
        </p:spPr>
      </p:sp>
      <p:pic>
        <p:nvPicPr>
          <p:cNvPr id="30" name="Voice and documents icon" descr="Voice and documents">    </p:cNvPr>
          <p:cNvPicPr>
            <a:picLocks noChangeAspect="1"/>
          </p:cNvPicPr>
          <p:nvPr/>
        </p:nvPicPr>
        <p:blipFill>
          <a:blip r:embed="rId6"/>
          <a:stretch>
            <a:fillRect/>
          </a:stretch>
        </p:blipFill>
        <p:spPr>
          <a:xfrm>
            <a:off x="6544818" y="4158234"/>
            <a:ext cx="342900" cy="342900"/>
          </a:xfrm>
          <a:prstGeom prst="rect">
            <a:avLst/>
          </a:prstGeom>
        </p:spPr>
      </p:pic>
      <p:sp>
        <p:nvSpPr>
          <p:cNvPr id="31" name="Text 23"/>
          <p:cNvSpPr txBox="1"/>
          <p:nvPr/>
        </p:nvSpPr>
        <p:spPr>
          <a:xfrm>
            <a:off x="7269480" y="3931920"/>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Voice and documents</a:t>
            </a:r>
            <a:endParaRPr lang="en-US" sz="1600" dirty="0"/>
          </a:p>
        </p:txBody>
      </p:sp>
      <p:sp>
        <p:nvSpPr>
          <p:cNvPr id="32" name="Text 24"/>
          <p:cNvSpPr txBox="1"/>
          <p:nvPr/>
        </p:nvSpPr>
        <p:spPr>
          <a:xfrm>
            <a:off x="7269480" y="4261104"/>
            <a:ext cx="4160520" cy="548640"/>
          </a:xfrm>
          <a:prstGeom prst="rect">
            <a:avLst/>
          </a:prstGeom>
          <a:noFill/>
          <a:ln/>
        </p:spPr>
        <p:txBody>
          <a:bodyPr wrap="square" lIns="0" tIns="0" rIns="0" bIns="0" rtlCol="0" anchor="t"/>
          <a:lstStyle/>
          <a:p>
            <a:pPr indent="0" marL="0">
              <a:buNone/>
            </a:pPr>
            <a:r>
              <a:rPr lang="en-US" sz="1400" dirty="0">
                <a:solidFill>
                  <a:schemeClr val="tx1"/>
                </a:solidFill>
              </a:rPr>
              <a:t>gTTS for Kannada speech; fpdf2 with HarfBuzz for a correct Kannada PDF</a:t>
            </a:r>
            <a:endParaRPr lang="en-US" sz="1400" dirty="0"/>
          </a:p>
        </p:txBody>
      </p:sp>
      <p:sp>
        <p:nvSpPr>
          <p:cNvPr id="33" name="Stack card 7"/>
          <p:cNvSpPr/>
          <p:nvPr/>
        </p:nvSpPr>
        <p:spPr>
          <a:xfrm>
            <a:off x="548640" y="5020056"/>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34" name="Code and hosting circle"/>
          <p:cNvSpPr/>
          <p:nvPr/>
        </p:nvSpPr>
        <p:spPr>
          <a:xfrm>
            <a:off x="749808" y="5202936"/>
            <a:ext cx="685800" cy="685800"/>
          </a:xfrm>
          <a:prstGeom prst="ellipse">
            <a:avLst/>
          </a:prstGeom>
          <a:solidFill>
            <a:schemeClr val="accent1"/>
          </a:solidFill>
          <a:ln/>
        </p:spPr>
      </p:sp>
      <p:pic>
        <p:nvPicPr>
          <p:cNvPr id="35" name="Code and hosting icon" descr="Code and hosting">    </p:cNvPr>
          <p:cNvPicPr>
            <a:picLocks noChangeAspect="1"/>
          </p:cNvPicPr>
          <p:nvPr/>
        </p:nvPicPr>
        <p:blipFill>
          <a:blip r:embed="rId7"/>
          <a:stretch>
            <a:fillRect/>
          </a:stretch>
        </p:blipFill>
        <p:spPr>
          <a:xfrm>
            <a:off x="921258" y="5374386"/>
            <a:ext cx="342900" cy="342900"/>
          </a:xfrm>
          <a:prstGeom prst="rect">
            <a:avLst/>
          </a:prstGeom>
        </p:spPr>
      </p:pic>
      <p:sp>
        <p:nvSpPr>
          <p:cNvPr id="36" name="Text 27"/>
          <p:cNvSpPr txBox="1"/>
          <p:nvPr/>
        </p:nvSpPr>
        <p:spPr>
          <a:xfrm>
            <a:off x="1645920" y="5148072"/>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Code and hosting</a:t>
            </a:r>
            <a:endParaRPr lang="en-US" sz="1600" dirty="0"/>
          </a:p>
        </p:txBody>
      </p:sp>
      <p:sp>
        <p:nvSpPr>
          <p:cNvPr id="37" name="Text 28"/>
          <p:cNvSpPr txBox="1"/>
          <p:nvPr/>
        </p:nvSpPr>
        <p:spPr>
          <a:xfrm>
            <a:off x="1645920" y="5477256"/>
            <a:ext cx="4160520" cy="548640"/>
          </a:xfrm>
          <a:prstGeom prst="rect">
            <a:avLst/>
          </a:prstGeom>
          <a:noFill/>
          <a:ln/>
        </p:spPr>
        <p:txBody>
          <a:bodyPr wrap="square" lIns="0" tIns="0" rIns="0" bIns="0" rtlCol="0" anchor="t"/>
          <a:lstStyle/>
          <a:p>
            <a:pPr indent="0" marL="0">
              <a:buNone/>
            </a:pPr>
            <a:r>
              <a:rPr lang="en-US" sz="1400" dirty="0">
                <a:solidFill>
                  <a:schemeClr val="tx1"/>
                </a:solidFill>
              </a:rPr>
              <a:t>GitHub; Streamlit Community Cloud with the API key kept in Secrets</a:t>
            </a:r>
            <a:endParaRPr lang="en-US" sz="1400" dirty="0"/>
          </a:p>
        </p:txBody>
      </p:sp>
      <p:sp>
        <p:nvSpPr>
          <p:cNvPr id="38" name="Stack card 8"/>
          <p:cNvSpPr/>
          <p:nvPr/>
        </p:nvSpPr>
        <p:spPr>
          <a:xfrm>
            <a:off x="6172200" y="5020056"/>
            <a:ext cx="5440680" cy="1051560"/>
          </a:xfrm>
          <a:prstGeom prst="roundRect">
            <a:avLst>
              <a:gd name="adj" fmla="val 10435"/>
            </a:avLst>
          </a:prstGeom>
          <a:solidFill>
            <a:schemeClr val="bg1"/>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39" name="Cost to run circle"/>
          <p:cNvSpPr/>
          <p:nvPr/>
        </p:nvSpPr>
        <p:spPr>
          <a:xfrm>
            <a:off x="6373368" y="5202936"/>
            <a:ext cx="685800" cy="685800"/>
          </a:xfrm>
          <a:prstGeom prst="ellipse">
            <a:avLst/>
          </a:prstGeom>
          <a:solidFill>
            <a:schemeClr val="accent1"/>
          </a:solidFill>
          <a:ln/>
        </p:spPr>
      </p:sp>
      <p:pic>
        <p:nvPicPr>
          <p:cNvPr id="40" name="Cost to run icon" descr="Cost to run">    </p:cNvPr>
          <p:cNvPicPr>
            <a:picLocks noChangeAspect="1"/>
          </p:cNvPicPr>
          <p:nvPr/>
        </p:nvPicPr>
        <p:blipFill>
          <a:blip r:embed="rId8"/>
          <a:stretch>
            <a:fillRect/>
          </a:stretch>
        </p:blipFill>
        <p:spPr>
          <a:xfrm>
            <a:off x="6544818" y="5374386"/>
            <a:ext cx="342900" cy="342900"/>
          </a:xfrm>
          <a:prstGeom prst="rect">
            <a:avLst/>
          </a:prstGeom>
        </p:spPr>
      </p:pic>
      <p:sp>
        <p:nvSpPr>
          <p:cNvPr id="41" name="Text 31"/>
          <p:cNvSpPr txBox="1"/>
          <p:nvPr/>
        </p:nvSpPr>
        <p:spPr>
          <a:xfrm>
            <a:off x="7269480" y="5148072"/>
            <a:ext cx="4160520" cy="329184"/>
          </a:xfrm>
          <a:prstGeom prst="rect">
            <a:avLst/>
          </a:prstGeom>
          <a:noFill/>
          <a:ln/>
        </p:spPr>
        <p:txBody>
          <a:bodyPr wrap="square" lIns="0" tIns="0" rIns="0" bIns="0" rtlCol="0" anchor="t"/>
          <a:lstStyle/>
          <a:p>
            <a:pPr indent="0" marL="0">
              <a:buNone/>
            </a:pPr>
            <a:r>
              <a:rPr lang="en-US" sz="1600" b="1" dirty="0">
                <a:solidFill>
                  <a:schemeClr val="accent1"/>
                </a:solidFill>
              </a:rPr>
              <a:t>Cost to run</a:t>
            </a:r>
            <a:endParaRPr lang="en-US" sz="1600" dirty="0"/>
          </a:p>
        </p:txBody>
      </p:sp>
      <p:sp>
        <p:nvSpPr>
          <p:cNvPr id="42" name="Text 32"/>
          <p:cNvSpPr txBox="1"/>
          <p:nvPr/>
        </p:nvSpPr>
        <p:spPr>
          <a:xfrm>
            <a:off x="7269480" y="5477256"/>
            <a:ext cx="4160520" cy="548640"/>
          </a:xfrm>
          <a:prstGeom prst="rect">
            <a:avLst/>
          </a:prstGeom>
          <a:noFill/>
          <a:ln/>
        </p:spPr>
        <p:txBody>
          <a:bodyPr wrap="square" lIns="0" tIns="0" rIns="0" bIns="0" rtlCol="0" anchor="t"/>
          <a:lstStyle/>
          <a:p>
            <a:pPr indent="0" marL="0">
              <a:buNone/>
            </a:pPr>
            <a:r>
              <a:rPr lang="en-US" sz="1400" dirty="0">
                <a:solidFill>
                  <a:schemeClr val="tx1"/>
                </a:solidFill>
              </a:rPr>
              <a:t>Free: open data sources, no login, only one API key (Gemini)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and data flow</a:t>
            </a:r>
            <a:endParaRPr lang="en-US" sz="3400" dirty="0"/>
          </a:p>
        </p:txBody>
      </p:sp>
      <p:sp>
        <p:nvSpPr>
          <p:cNvPr id="3" name="Traveller circle"/>
          <p:cNvSpPr/>
          <p:nvPr/>
        </p:nvSpPr>
        <p:spPr>
          <a:xfrm>
            <a:off x="868680" y="2377440"/>
            <a:ext cx="822960" cy="822960"/>
          </a:xfrm>
          <a:prstGeom prst="ellipse">
            <a:avLst/>
          </a:prstGeom>
          <a:solidFill>
            <a:schemeClr val="accent1"/>
          </a:solidFill>
          <a:ln/>
        </p:spPr>
      </p:sp>
      <p:pic>
        <p:nvPicPr>
          <p:cNvPr id="4" name="Traveller icon" descr="Traveller">    </p:cNvPr>
          <p:cNvPicPr>
            <a:picLocks noChangeAspect="1"/>
          </p:cNvPicPr>
          <p:nvPr/>
        </p:nvPicPr>
        <p:blipFill>
          <a:blip r:embed="rId1"/>
          <a:stretch>
            <a:fillRect/>
          </a:stretch>
        </p:blipFill>
        <p:spPr>
          <a:xfrm>
            <a:off x="1074420" y="2583180"/>
            <a:ext cx="411480" cy="411480"/>
          </a:xfrm>
          <a:prstGeom prst="rect">
            <a:avLst/>
          </a:prstGeom>
        </p:spPr>
      </p:pic>
      <p:sp>
        <p:nvSpPr>
          <p:cNvPr id="5" name="Text 2"/>
          <p:cNvSpPr txBox="1"/>
          <p:nvPr/>
        </p:nvSpPr>
        <p:spPr>
          <a:xfrm>
            <a:off x="548640" y="329184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Traveller</a:t>
            </a:r>
            <a:endParaRPr lang="en-US" sz="1500" dirty="0"/>
          </a:p>
        </p:txBody>
      </p:sp>
      <p:sp>
        <p:nvSpPr>
          <p:cNvPr id="6" name="Text 3"/>
          <p:cNvSpPr txBox="1"/>
          <p:nvPr/>
        </p:nvSpPr>
        <p:spPr>
          <a:xfrm>
            <a:off x="548640" y="3611880"/>
            <a:ext cx="1463040" cy="548640"/>
          </a:xfrm>
          <a:prstGeom prst="rect">
            <a:avLst/>
          </a:prstGeom>
          <a:noFill/>
          <a:ln/>
        </p:spPr>
        <p:txBody>
          <a:bodyPr wrap="square" lIns="0" tIns="0" rIns="0" bIns="0" rtlCol="0" anchor="t"/>
          <a:lstStyle/>
          <a:p>
            <a:pPr algn="ctr" indent="0" marL="0">
              <a:buNone/>
            </a:pPr>
            <a:r>
              <a:rPr lang="en-US" sz="1200" dirty="0">
                <a:solidFill>
                  <a:schemeClr val="accent3"/>
                </a:solidFill>
              </a:rPr>
              <a:t>Phone or laptop browser</a:t>
            </a:r>
            <a:endParaRPr lang="en-US" sz="1200" dirty="0"/>
          </a:p>
        </p:txBody>
      </p:sp>
      <p:sp>
        <p:nvSpPr>
          <p:cNvPr id="7" name="Streamlit app"/>
          <p:cNvSpPr/>
          <p:nvPr/>
        </p:nvSpPr>
        <p:spPr>
          <a:xfrm>
            <a:off x="2468880" y="1325880"/>
            <a:ext cx="5760720" cy="4892040"/>
          </a:xfrm>
          <a:prstGeom prst="roundRect">
            <a:avLst>
              <a:gd name="adj" fmla="val 2243"/>
            </a:avLst>
          </a:prstGeom>
          <a:solidFill>
            <a:schemeClr val="bg2"/>
          </a:solidFill>
          <a:ln/>
        </p:spPr>
      </p:sp>
      <p:sp>
        <p:nvSpPr>
          <p:cNvPr id="8" name="Text 5"/>
          <p:cNvSpPr txBox="1"/>
          <p:nvPr/>
        </p:nvSpPr>
        <p:spPr>
          <a:xfrm>
            <a:off x="2697480" y="1417320"/>
            <a:ext cx="5303520" cy="320040"/>
          </a:xfrm>
          <a:prstGeom prst="rect">
            <a:avLst/>
          </a:prstGeom>
          <a:noFill/>
          <a:ln/>
        </p:spPr>
        <p:txBody>
          <a:bodyPr wrap="square" lIns="0" tIns="0" rIns="0" bIns="0" rtlCol="0" anchor="t"/>
          <a:lstStyle/>
          <a:p>
            <a:pPr indent="0" marL="0">
              <a:buNone/>
            </a:pPr>
            <a:r>
              <a:rPr lang="en-US" sz="1500" b="1" dirty="0">
                <a:solidFill>
                  <a:schemeClr val="accent1"/>
                </a:solidFill>
              </a:rPr>
              <a:t>Pravasa app (Streamlit, Python)</a:t>
            </a:r>
            <a:endParaRPr lang="en-US" sz="1500" dirty="0"/>
          </a:p>
        </p:txBody>
      </p:sp>
      <p:sp>
        <p:nvSpPr>
          <p:cNvPr id="9" name="Pages box"/>
          <p:cNvSpPr/>
          <p:nvPr/>
        </p:nvSpPr>
        <p:spPr>
          <a:xfrm>
            <a:off x="2697480" y="1828800"/>
            <a:ext cx="5303520" cy="777240"/>
          </a:xfrm>
          <a:prstGeom prst="roundRect">
            <a:avLst>
              <a:gd name="adj" fmla="val 11765"/>
            </a:avLst>
          </a:prstGeom>
          <a:solidFill>
            <a:schemeClr val="bg1"/>
          </a:solidFill>
          <a:ln w="12700">
            <a:solidFill>
              <a:schemeClr val="accent5"/>
            </a:solidFill>
            <a:prstDash val="solid"/>
          </a:ln>
        </p:spPr>
      </p:sp>
      <p:sp>
        <p:nvSpPr>
          <p:cNvPr id="10" name="Text 7"/>
          <p:cNvSpPr txBox="1"/>
          <p:nvPr/>
        </p:nvSpPr>
        <p:spPr>
          <a:xfrm>
            <a:off x="2834640" y="192024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Pages</a:t>
            </a:r>
            <a:endParaRPr lang="en-US" sz="1500" dirty="0"/>
          </a:p>
        </p:txBody>
      </p:sp>
      <p:sp>
        <p:nvSpPr>
          <p:cNvPr id="11" name="Text 8"/>
          <p:cNvSpPr txBox="1"/>
          <p:nvPr/>
        </p:nvSpPr>
        <p:spPr>
          <a:xfrm>
            <a:off x="2834640" y="2240280"/>
            <a:ext cx="5029200" cy="320040"/>
          </a:xfrm>
          <a:prstGeom prst="rect">
            <a:avLst/>
          </a:prstGeom>
          <a:noFill/>
          <a:ln/>
        </p:spPr>
        <p:txBody>
          <a:bodyPr wrap="square" lIns="0" tIns="0" rIns="0" bIns="0" rtlCol="0" anchor="t"/>
          <a:lstStyle/>
          <a:p>
            <a:pPr indent="0" marL="0">
              <a:buNone/>
            </a:pPr>
            <a:r>
              <a:rPr lang="en-US" sz="1200" dirty="0">
                <a:solidFill>
                  <a:schemeClr val="tx1"/>
                </a:solidFill>
              </a:rPr>
              <a:t>Home · Plan a trip · My trip · Explore · Help  (Kannada / English via i18n.py)</a:t>
            </a:r>
            <a:endParaRPr lang="en-US" sz="1200" dirty="0"/>
          </a:p>
        </p:txBody>
      </p:sp>
      <p:sp>
        <p:nvSpPr>
          <p:cNvPr id="12" name="AI module"/>
          <p:cNvSpPr/>
          <p:nvPr/>
        </p:nvSpPr>
        <p:spPr>
          <a:xfrm>
            <a:off x="2697480" y="2834640"/>
            <a:ext cx="2514600" cy="1234440"/>
          </a:xfrm>
          <a:prstGeom prst="roundRect">
            <a:avLst>
              <a:gd name="adj" fmla="val 7407"/>
            </a:avLst>
          </a:prstGeom>
          <a:solidFill>
            <a:schemeClr val="bg1"/>
          </a:solidFill>
          <a:ln w="12700">
            <a:solidFill>
              <a:schemeClr val="accent5"/>
            </a:solidFill>
            <a:prstDash val="solid"/>
          </a:ln>
        </p:spPr>
      </p:sp>
      <p:sp>
        <p:nvSpPr>
          <p:cNvPr id="13" name="Text 10"/>
          <p:cNvSpPr txBox="1"/>
          <p:nvPr/>
        </p:nvSpPr>
        <p:spPr>
          <a:xfrm>
            <a:off x="2834640" y="2926080"/>
            <a:ext cx="2240280" cy="320040"/>
          </a:xfrm>
          <a:prstGeom prst="rect">
            <a:avLst/>
          </a:prstGeom>
          <a:noFill/>
          <a:ln/>
        </p:spPr>
        <p:txBody>
          <a:bodyPr wrap="square" lIns="0" tIns="0" rIns="0" bIns="0" rtlCol="0" anchor="t"/>
          <a:lstStyle/>
          <a:p>
            <a:pPr indent="0" marL="0">
              <a:buNone/>
            </a:pPr>
            <a:r>
              <a:rPr lang="en-US" sz="1500" b="1" dirty="0">
                <a:solidFill>
                  <a:schemeClr val="accent1"/>
                </a:solidFill>
              </a:rPr>
              <a:t>ai.py</a:t>
            </a:r>
            <a:endParaRPr lang="en-US" sz="1500" dirty="0"/>
          </a:p>
        </p:txBody>
      </p:sp>
      <p:sp>
        <p:nvSpPr>
          <p:cNvPr id="14" name="Text 11"/>
          <p:cNvSpPr txBox="1"/>
          <p:nvPr/>
        </p:nvSpPr>
        <p:spPr>
          <a:xfrm>
            <a:off x="2834640" y="3246120"/>
            <a:ext cx="2240280" cy="777240"/>
          </a:xfrm>
          <a:prstGeom prst="rect">
            <a:avLst/>
          </a:prstGeom>
          <a:noFill/>
          <a:ln/>
        </p:spPr>
        <p:txBody>
          <a:bodyPr wrap="square" lIns="0" tIns="0" rIns="0" bIns="0" rtlCol="0" anchor="t"/>
          <a:lstStyle/>
          <a:p>
            <a:pPr indent="0" marL="0">
              <a:buNone/>
            </a:pPr>
            <a:r>
              <a:rPr lang="en-US" sz="1200" dirty="0">
                <a:solidFill>
                  <a:schemeClr val="tx1"/>
                </a:solidFill>
              </a:rPr>
              <a:t>Understand voice or text → JSON settings; write the trip story</a:t>
            </a:r>
            <a:endParaRPr lang="en-US" sz="1200" dirty="0"/>
          </a:p>
        </p:txBody>
      </p:sp>
      <p:sp>
        <p:nvSpPr>
          <p:cNvPr id="15" name="Planner module"/>
          <p:cNvSpPr/>
          <p:nvPr/>
        </p:nvSpPr>
        <p:spPr>
          <a:xfrm>
            <a:off x="5486400" y="2834640"/>
            <a:ext cx="2514600" cy="1234440"/>
          </a:xfrm>
          <a:prstGeom prst="roundRect">
            <a:avLst>
              <a:gd name="adj" fmla="val 7407"/>
            </a:avLst>
          </a:prstGeom>
          <a:solidFill>
            <a:schemeClr val="bg1"/>
          </a:solidFill>
          <a:ln w="12700">
            <a:solidFill>
              <a:schemeClr val="accent5"/>
            </a:solidFill>
            <a:prstDash val="solid"/>
          </a:ln>
        </p:spPr>
      </p:sp>
      <p:sp>
        <p:nvSpPr>
          <p:cNvPr id="16" name="Text 13"/>
          <p:cNvSpPr txBox="1"/>
          <p:nvPr/>
        </p:nvSpPr>
        <p:spPr>
          <a:xfrm>
            <a:off x="5623560" y="2926080"/>
            <a:ext cx="2240280" cy="320040"/>
          </a:xfrm>
          <a:prstGeom prst="rect">
            <a:avLst/>
          </a:prstGeom>
          <a:noFill/>
          <a:ln/>
        </p:spPr>
        <p:txBody>
          <a:bodyPr wrap="square" lIns="0" tIns="0" rIns="0" bIns="0" rtlCol="0" anchor="t"/>
          <a:lstStyle/>
          <a:p>
            <a:pPr indent="0" marL="0">
              <a:buNone/>
            </a:pPr>
            <a:r>
              <a:rPr lang="en-US" sz="1500" b="1" dirty="0">
                <a:solidFill>
                  <a:schemeClr val="accent1"/>
                </a:solidFill>
              </a:rPr>
              <a:t>planner.py</a:t>
            </a:r>
            <a:endParaRPr lang="en-US" sz="1500" dirty="0"/>
          </a:p>
        </p:txBody>
      </p:sp>
      <p:sp>
        <p:nvSpPr>
          <p:cNvPr id="17" name="Text 14"/>
          <p:cNvSpPr txBox="1"/>
          <p:nvPr/>
        </p:nvSpPr>
        <p:spPr>
          <a:xfrm>
            <a:off x="5623560" y="3246120"/>
            <a:ext cx="2240280" cy="777240"/>
          </a:xfrm>
          <a:prstGeom prst="rect">
            <a:avLst/>
          </a:prstGeom>
          <a:noFill/>
          <a:ln/>
        </p:spPr>
        <p:txBody>
          <a:bodyPr wrap="square" lIns="0" tIns="0" rIns="0" bIns="0" rtlCol="0" anchor="t"/>
          <a:lstStyle/>
          <a:p>
            <a:pPr indent="0" marL="0">
              <a:buNone/>
            </a:pPr>
            <a:r>
              <a:rPr lang="en-US" sz="1200" dirty="0">
                <a:solidFill>
                  <a:schemeClr val="tx1"/>
                </a:solidFill>
              </a:rPr>
              <a:t>Score places, fit days, estimate costs (destinations.json, 55 places)</a:t>
            </a:r>
            <a:endParaRPr lang="en-US" sz="1200" dirty="0"/>
          </a:p>
        </p:txBody>
      </p:sp>
      <p:sp>
        <p:nvSpPr>
          <p:cNvPr id="18" name="Enrichment modules"/>
          <p:cNvSpPr/>
          <p:nvPr/>
        </p:nvSpPr>
        <p:spPr>
          <a:xfrm>
            <a:off x="2697480" y="4297680"/>
            <a:ext cx="5303520" cy="822960"/>
          </a:xfrm>
          <a:prstGeom prst="roundRect">
            <a:avLst>
              <a:gd name="adj" fmla="val 11111"/>
            </a:avLst>
          </a:prstGeom>
          <a:solidFill>
            <a:schemeClr val="bg1"/>
          </a:solidFill>
          <a:ln w="12700">
            <a:solidFill>
              <a:schemeClr val="accent5"/>
            </a:solidFill>
            <a:prstDash val="solid"/>
          </a:ln>
        </p:spPr>
      </p:sp>
      <p:sp>
        <p:nvSpPr>
          <p:cNvPr id="19" name="Text 16"/>
          <p:cNvSpPr txBox="1"/>
          <p:nvPr/>
        </p:nvSpPr>
        <p:spPr>
          <a:xfrm>
            <a:off x="2834640" y="438912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places.py · weather.py · extras.py · trip_map.py</a:t>
            </a:r>
            <a:endParaRPr lang="en-US" sz="1500" dirty="0"/>
          </a:p>
        </p:txBody>
      </p:sp>
      <p:sp>
        <p:nvSpPr>
          <p:cNvPr id="20" name="Text 17"/>
          <p:cNvSpPr txBox="1"/>
          <p:nvPr/>
        </p:nvSpPr>
        <p:spPr>
          <a:xfrm>
            <a:off x="2834640" y="4709160"/>
            <a:ext cx="5029200" cy="365760"/>
          </a:xfrm>
          <a:prstGeom prst="rect">
            <a:avLst/>
          </a:prstGeom>
          <a:noFill/>
          <a:ln/>
        </p:spPr>
        <p:txBody>
          <a:bodyPr wrap="square" lIns="0" tIns="0" rIns="0" bIns="0" rtlCol="0" anchor="t"/>
          <a:lstStyle/>
          <a:p>
            <a:pPr indent="0" marL="0">
              <a:buNone/>
            </a:pPr>
            <a:r>
              <a:rPr lang="en-US" sz="1200" dirty="0">
                <a:solidFill>
                  <a:schemeClr val="tx1"/>
                </a:solidFill>
              </a:rPr>
              <a:t>Photos, notes, weather, hotels, transport, map; fetched in parallel and cached</a:t>
            </a:r>
            <a:endParaRPr lang="en-US" sz="1200" dirty="0"/>
          </a:p>
        </p:txBody>
      </p:sp>
      <p:sp>
        <p:nvSpPr>
          <p:cNvPr id="21" name="Outputs box"/>
          <p:cNvSpPr/>
          <p:nvPr/>
        </p:nvSpPr>
        <p:spPr>
          <a:xfrm>
            <a:off x="2697480" y="5303520"/>
            <a:ext cx="5303520" cy="777240"/>
          </a:xfrm>
          <a:prstGeom prst="roundRect">
            <a:avLst>
              <a:gd name="adj" fmla="val 11765"/>
            </a:avLst>
          </a:prstGeom>
          <a:solidFill>
            <a:schemeClr val="bg1"/>
          </a:solidFill>
          <a:ln w="12700">
            <a:solidFill>
              <a:schemeClr val="accent5"/>
            </a:solidFill>
            <a:prstDash val="solid"/>
          </a:ln>
        </p:spPr>
      </p:sp>
      <p:sp>
        <p:nvSpPr>
          <p:cNvPr id="22" name="Text 19"/>
          <p:cNvSpPr txBox="1"/>
          <p:nvPr/>
        </p:nvSpPr>
        <p:spPr>
          <a:xfrm>
            <a:off x="2834640" y="539496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Outputs</a:t>
            </a:r>
            <a:endParaRPr lang="en-US" sz="1500" dirty="0"/>
          </a:p>
        </p:txBody>
      </p:sp>
      <p:sp>
        <p:nvSpPr>
          <p:cNvPr id="23" name="Text 20"/>
          <p:cNvSpPr txBox="1"/>
          <p:nvPr/>
        </p:nvSpPr>
        <p:spPr>
          <a:xfrm>
            <a:off x="2834640" y="5715000"/>
            <a:ext cx="5029200" cy="320040"/>
          </a:xfrm>
          <a:prstGeom prst="rect">
            <a:avLst/>
          </a:prstGeom>
          <a:noFill/>
          <a:ln/>
        </p:spPr>
        <p:txBody>
          <a:bodyPr wrap="square" lIns="0" tIns="0" rIns="0" bIns="0" rtlCol="0" anchor="t"/>
          <a:lstStyle/>
          <a:p>
            <a:pPr indent="0" marL="0">
              <a:buNone/>
            </a:pPr>
            <a:r>
              <a:rPr lang="en-US" sz="1200" dirty="0">
                <a:solidFill>
                  <a:schemeClr val="tx1"/>
                </a:solidFill>
              </a:rPr>
              <a:t>Folium map · day plan · cost chart · gTTS audio (voice.py) · PDF (report.py)</a:t>
            </a:r>
            <a:endParaRPr lang="en-US" sz="1200" dirty="0"/>
          </a:p>
        </p:txBody>
      </p:sp>
      <p:sp>
        <p:nvSpPr>
          <p:cNvPr id="24" name="Text 21"/>
          <p:cNvSpPr txBox="1"/>
          <p:nvPr/>
        </p:nvSpPr>
        <p:spPr>
          <a:xfrm>
            <a:off x="8778240" y="1371600"/>
            <a:ext cx="2834640" cy="320040"/>
          </a:xfrm>
          <a:prstGeom prst="rect">
            <a:avLst/>
          </a:prstGeom>
          <a:noFill/>
          <a:ln/>
        </p:spPr>
        <p:txBody>
          <a:bodyPr wrap="square" lIns="0" tIns="0" rIns="0" bIns="0" rtlCol="0" anchor="t"/>
          <a:lstStyle/>
          <a:p>
            <a:pPr indent="0" marL="0">
              <a:buNone/>
            </a:pPr>
            <a:r>
              <a:rPr lang="en-US" sz="1500" b="1" dirty="0">
                <a:solidFill>
                  <a:schemeClr val="accent1"/>
                </a:solidFill>
              </a:rPr>
              <a:t>Free online services</a:t>
            </a:r>
            <a:endParaRPr lang="en-US" sz="1500" dirty="0"/>
          </a:p>
        </p:txBody>
      </p:sp>
      <p:sp>
        <p:nvSpPr>
          <p:cNvPr id="25" name="Service 1"/>
          <p:cNvSpPr/>
          <p:nvPr/>
        </p:nvSpPr>
        <p:spPr>
          <a:xfrm>
            <a:off x="8778240" y="1783080"/>
            <a:ext cx="2834640" cy="749808"/>
          </a:xfrm>
          <a:prstGeom prst="roundRect">
            <a:avLst>
              <a:gd name="adj" fmla="val 12195"/>
            </a:avLst>
          </a:prstGeom>
          <a:solidFill>
            <a:schemeClr val="bg1"/>
          </a:solidFill>
          <a:ln w="12700">
            <a:solidFill>
              <a:schemeClr val="accent5"/>
            </a:solidFill>
            <a:prstDash val="solid"/>
          </a:ln>
        </p:spPr>
      </p:sp>
      <p:sp>
        <p:nvSpPr>
          <p:cNvPr id="26" name="Text 23"/>
          <p:cNvSpPr txBox="1"/>
          <p:nvPr/>
        </p:nvSpPr>
        <p:spPr>
          <a:xfrm>
            <a:off x="8915400" y="1874520"/>
            <a:ext cx="2560320" cy="320040"/>
          </a:xfrm>
          <a:prstGeom prst="rect">
            <a:avLst/>
          </a:prstGeom>
          <a:noFill/>
          <a:ln/>
        </p:spPr>
        <p:txBody>
          <a:bodyPr wrap="square" lIns="0" tIns="0" rIns="0" bIns="0" rtlCol="0" anchor="t"/>
          <a:lstStyle/>
          <a:p>
            <a:pPr indent="0" marL="0">
              <a:buNone/>
            </a:pPr>
            <a:r>
              <a:rPr lang="en-US" sz="1500" b="1" dirty="0">
                <a:solidFill>
                  <a:schemeClr val="accent1"/>
                </a:solidFill>
              </a:rPr>
              <a:t>Google Gemini API</a:t>
            </a:r>
            <a:endParaRPr lang="en-US" sz="1500" dirty="0"/>
          </a:p>
        </p:txBody>
      </p:sp>
      <p:sp>
        <p:nvSpPr>
          <p:cNvPr id="27" name="Text 24"/>
          <p:cNvSpPr txBox="1"/>
          <p:nvPr/>
        </p:nvSpPr>
        <p:spPr>
          <a:xfrm>
            <a:off x="8915400" y="2194560"/>
            <a:ext cx="2560320" cy="292608"/>
          </a:xfrm>
          <a:prstGeom prst="rect">
            <a:avLst/>
          </a:prstGeom>
          <a:noFill/>
          <a:ln/>
        </p:spPr>
        <p:txBody>
          <a:bodyPr wrap="square" lIns="0" tIns="0" rIns="0" bIns="0" rtlCol="0" anchor="t"/>
          <a:lstStyle/>
          <a:p>
            <a:pPr indent="0" marL="0">
              <a:buNone/>
            </a:pPr>
            <a:r>
              <a:rPr lang="en-US" sz="1200" dirty="0">
                <a:solidFill>
                  <a:schemeClr val="tx1"/>
                </a:solidFill>
              </a:rPr>
              <a:t>Speech + text understanding, story</a:t>
            </a:r>
            <a:endParaRPr lang="en-US" sz="1200" dirty="0"/>
          </a:p>
        </p:txBody>
      </p:sp>
      <p:sp>
        <p:nvSpPr>
          <p:cNvPr id="28" name="Service 2"/>
          <p:cNvSpPr/>
          <p:nvPr/>
        </p:nvSpPr>
        <p:spPr>
          <a:xfrm>
            <a:off x="8778240" y="2670048"/>
            <a:ext cx="2834640" cy="749808"/>
          </a:xfrm>
          <a:prstGeom prst="roundRect">
            <a:avLst>
              <a:gd name="adj" fmla="val 12195"/>
            </a:avLst>
          </a:prstGeom>
          <a:solidFill>
            <a:schemeClr val="bg1"/>
          </a:solidFill>
          <a:ln w="12700">
            <a:solidFill>
              <a:schemeClr val="accent5"/>
            </a:solidFill>
            <a:prstDash val="solid"/>
          </a:ln>
        </p:spPr>
      </p:sp>
      <p:sp>
        <p:nvSpPr>
          <p:cNvPr id="29" name="Text 26"/>
          <p:cNvSpPr txBox="1"/>
          <p:nvPr/>
        </p:nvSpPr>
        <p:spPr>
          <a:xfrm>
            <a:off x="8915400" y="2761488"/>
            <a:ext cx="2560320" cy="320040"/>
          </a:xfrm>
          <a:prstGeom prst="rect">
            <a:avLst/>
          </a:prstGeom>
          <a:noFill/>
          <a:ln/>
        </p:spPr>
        <p:txBody>
          <a:bodyPr wrap="square" lIns="0" tIns="0" rIns="0" bIns="0" rtlCol="0" anchor="t"/>
          <a:lstStyle/>
          <a:p>
            <a:pPr indent="0" marL="0">
              <a:buNone/>
            </a:pPr>
            <a:r>
              <a:rPr lang="en-US" sz="1500" b="1" dirty="0">
                <a:solidFill>
                  <a:schemeClr val="accent1"/>
                </a:solidFill>
              </a:rPr>
              <a:t>OSRM</a:t>
            </a:r>
            <a:endParaRPr lang="en-US" sz="1500" dirty="0"/>
          </a:p>
        </p:txBody>
      </p:sp>
      <p:sp>
        <p:nvSpPr>
          <p:cNvPr id="30" name="Text 27"/>
          <p:cNvSpPr txBox="1"/>
          <p:nvPr/>
        </p:nvSpPr>
        <p:spPr>
          <a:xfrm>
            <a:off x="8915400" y="3081528"/>
            <a:ext cx="2560320" cy="292608"/>
          </a:xfrm>
          <a:prstGeom prst="rect">
            <a:avLst/>
          </a:prstGeom>
          <a:noFill/>
          <a:ln/>
        </p:spPr>
        <p:txBody>
          <a:bodyPr wrap="square" lIns="0" tIns="0" rIns="0" bIns="0" rtlCol="0" anchor="t"/>
          <a:lstStyle/>
          <a:p>
            <a:pPr indent="0" marL="0">
              <a:buNone/>
            </a:pPr>
            <a:r>
              <a:rPr lang="en-US" sz="1200" dirty="0">
                <a:solidFill>
                  <a:schemeClr val="tx1"/>
                </a:solidFill>
              </a:rPr>
              <a:t>Real road routes</a:t>
            </a:r>
            <a:endParaRPr lang="en-US" sz="1200" dirty="0"/>
          </a:p>
        </p:txBody>
      </p:sp>
      <p:sp>
        <p:nvSpPr>
          <p:cNvPr id="31" name="Service 3"/>
          <p:cNvSpPr/>
          <p:nvPr/>
        </p:nvSpPr>
        <p:spPr>
          <a:xfrm>
            <a:off x="8778240" y="3557016"/>
            <a:ext cx="2834640" cy="749808"/>
          </a:xfrm>
          <a:prstGeom prst="roundRect">
            <a:avLst>
              <a:gd name="adj" fmla="val 12195"/>
            </a:avLst>
          </a:prstGeom>
          <a:solidFill>
            <a:schemeClr val="bg1"/>
          </a:solidFill>
          <a:ln w="12700">
            <a:solidFill>
              <a:schemeClr val="accent5"/>
            </a:solidFill>
            <a:prstDash val="solid"/>
          </a:ln>
        </p:spPr>
      </p:sp>
      <p:sp>
        <p:nvSpPr>
          <p:cNvPr id="32" name="Text 29"/>
          <p:cNvSpPr txBox="1"/>
          <p:nvPr/>
        </p:nvSpPr>
        <p:spPr>
          <a:xfrm>
            <a:off x="8915400" y="3648456"/>
            <a:ext cx="2560320" cy="320040"/>
          </a:xfrm>
          <a:prstGeom prst="rect">
            <a:avLst/>
          </a:prstGeom>
          <a:noFill/>
          <a:ln/>
        </p:spPr>
        <p:txBody>
          <a:bodyPr wrap="square" lIns="0" tIns="0" rIns="0" bIns="0" rtlCol="0" anchor="t"/>
          <a:lstStyle/>
          <a:p>
            <a:pPr indent="0" marL="0">
              <a:buNone/>
            </a:pPr>
            <a:r>
              <a:rPr lang="en-US" sz="1500" b="1" dirty="0">
                <a:solidFill>
                  <a:schemeClr val="accent1"/>
                </a:solidFill>
              </a:rPr>
              <a:t>Wikipedia and Wikimedia</a:t>
            </a:r>
            <a:endParaRPr lang="en-US" sz="1500" dirty="0"/>
          </a:p>
        </p:txBody>
      </p:sp>
      <p:sp>
        <p:nvSpPr>
          <p:cNvPr id="33" name="Text 30"/>
          <p:cNvSpPr txBox="1"/>
          <p:nvPr/>
        </p:nvSpPr>
        <p:spPr>
          <a:xfrm>
            <a:off x="8915400" y="3968496"/>
            <a:ext cx="2560320" cy="292608"/>
          </a:xfrm>
          <a:prstGeom prst="rect">
            <a:avLst/>
          </a:prstGeom>
          <a:noFill/>
          <a:ln/>
        </p:spPr>
        <p:txBody>
          <a:bodyPr wrap="square" lIns="0" tIns="0" rIns="0" bIns="0" rtlCol="0" anchor="t"/>
          <a:lstStyle/>
          <a:p>
            <a:pPr indent="0" marL="0">
              <a:buNone/>
            </a:pPr>
            <a:r>
              <a:rPr lang="en-US" sz="1200" dirty="0">
                <a:solidFill>
                  <a:schemeClr val="tx1"/>
                </a:solidFill>
              </a:rPr>
              <a:t>Text, photos, Wikivoyage notes</a:t>
            </a:r>
            <a:endParaRPr lang="en-US" sz="1200" dirty="0"/>
          </a:p>
        </p:txBody>
      </p:sp>
      <p:sp>
        <p:nvSpPr>
          <p:cNvPr id="34" name="Service 4"/>
          <p:cNvSpPr/>
          <p:nvPr/>
        </p:nvSpPr>
        <p:spPr>
          <a:xfrm>
            <a:off x="8778240" y="4443984"/>
            <a:ext cx="2834640" cy="749808"/>
          </a:xfrm>
          <a:prstGeom prst="roundRect">
            <a:avLst>
              <a:gd name="adj" fmla="val 12195"/>
            </a:avLst>
          </a:prstGeom>
          <a:solidFill>
            <a:schemeClr val="bg1"/>
          </a:solidFill>
          <a:ln w="12700">
            <a:solidFill>
              <a:schemeClr val="accent5"/>
            </a:solidFill>
            <a:prstDash val="solid"/>
          </a:ln>
        </p:spPr>
      </p:sp>
      <p:sp>
        <p:nvSpPr>
          <p:cNvPr id="35" name="Text 32"/>
          <p:cNvSpPr txBox="1"/>
          <p:nvPr/>
        </p:nvSpPr>
        <p:spPr>
          <a:xfrm>
            <a:off x="8915400" y="4535424"/>
            <a:ext cx="2560320" cy="320040"/>
          </a:xfrm>
          <a:prstGeom prst="rect">
            <a:avLst/>
          </a:prstGeom>
          <a:noFill/>
          <a:ln/>
        </p:spPr>
        <p:txBody>
          <a:bodyPr wrap="square" lIns="0" tIns="0" rIns="0" bIns="0" rtlCol="0" anchor="t"/>
          <a:lstStyle/>
          <a:p>
            <a:pPr indent="0" marL="0">
              <a:buNone/>
            </a:pPr>
            <a:r>
              <a:rPr lang="en-US" sz="1500" b="1" dirty="0">
                <a:solidFill>
                  <a:schemeClr val="accent1"/>
                </a:solidFill>
              </a:rPr>
              <a:t>Open-Meteo</a:t>
            </a:r>
            <a:endParaRPr lang="en-US" sz="1500" dirty="0"/>
          </a:p>
        </p:txBody>
      </p:sp>
      <p:sp>
        <p:nvSpPr>
          <p:cNvPr id="36" name="Text 33"/>
          <p:cNvSpPr txBox="1"/>
          <p:nvPr/>
        </p:nvSpPr>
        <p:spPr>
          <a:xfrm>
            <a:off x="8915400" y="4855464"/>
            <a:ext cx="2560320" cy="292608"/>
          </a:xfrm>
          <a:prstGeom prst="rect">
            <a:avLst/>
          </a:prstGeom>
          <a:noFill/>
          <a:ln/>
        </p:spPr>
        <p:txBody>
          <a:bodyPr wrap="square" lIns="0" tIns="0" rIns="0" bIns="0" rtlCol="0" anchor="t"/>
          <a:lstStyle/>
          <a:p>
            <a:pPr indent="0" marL="0">
              <a:buNone/>
            </a:pPr>
            <a:r>
              <a:rPr lang="en-US" sz="1200" dirty="0">
                <a:solidFill>
                  <a:schemeClr val="tx1"/>
                </a:solidFill>
              </a:rPr>
              <a:t>Forecast and past weather</a:t>
            </a:r>
            <a:endParaRPr lang="en-US" sz="1200" dirty="0"/>
          </a:p>
        </p:txBody>
      </p:sp>
      <p:sp>
        <p:nvSpPr>
          <p:cNvPr id="37" name="Service 5"/>
          <p:cNvSpPr/>
          <p:nvPr/>
        </p:nvSpPr>
        <p:spPr>
          <a:xfrm>
            <a:off x="8778240" y="5330952"/>
            <a:ext cx="2834640" cy="749808"/>
          </a:xfrm>
          <a:prstGeom prst="roundRect">
            <a:avLst>
              <a:gd name="adj" fmla="val 12195"/>
            </a:avLst>
          </a:prstGeom>
          <a:solidFill>
            <a:schemeClr val="bg1"/>
          </a:solidFill>
          <a:ln w="12700">
            <a:solidFill>
              <a:schemeClr val="accent5"/>
            </a:solidFill>
            <a:prstDash val="solid"/>
          </a:ln>
        </p:spPr>
      </p:sp>
      <p:sp>
        <p:nvSpPr>
          <p:cNvPr id="38" name="Text 35"/>
          <p:cNvSpPr txBox="1"/>
          <p:nvPr/>
        </p:nvSpPr>
        <p:spPr>
          <a:xfrm>
            <a:off x="8915400" y="5422392"/>
            <a:ext cx="2560320" cy="320040"/>
          </a:xfrm>
          <a:prstGeom prst="rect">
            <a:avLst/>
          </a:prstGeom>
          <a:noFill/>
          <a:ln/>
        </p:spPr>
        <p:txBody>
          <a:bodyPr wrap="square" lIns="0" tIns="0" rIns="0" bIns="0" rtlCol="0" anchor="t"/>
          <a:lstStyle/>
          <a:p>
            <a:pPr indent="0" marL="0">
              <a:buNone/>
            </a:pPr>
            <a:r>
              <a:rPr lang="en-US" sz="1500" b="1" dirty="0">
                <a:solidFill>
                  <a:schemeClr val="accent1"/>
                </a:solidFill>
              </a:rPr>
              <a:t>OpenStreetMap Overpass</a:t>
            </a:r>
            <a:endParaRPr lang="en-US" sz="1500" dirty="0"/>
          </a:p>
        </p:txBody>
      </p:sp>
      <p:sp>
        <p:nvSpPr>
          <p:cNvPr id="39" name="Text 36"/>
          <p:cNvSpPr txBox="1"/>
          <p:nvPr/>
        </p:nvSpPr>
        <p:spPr>
          <a:xfrm>
            <a:off x="8915400" y="5742432"/>
            <a:ext cx="2560320" cy="292608"/>
          </a:xfrm>
          <a:prstGeom prst="rect">
            <a:avLst/>
          </a:prstGeom>
          <a:noFill/>
          <a:ln/>
        </p:spPr>
        <p:txBody>
          <a:bodyPr wrap="square" lIns="0" tIns="0" rIns="0" bIns="0" rtlCol="0" anchor="t"/>
          <a:lstStyle/>
          <a:p>
            <a:pPr indent="0" marL="0">
              <a:buNone/>
            </a:pPr>
            <a:r>
              <a:rPr lang="en-US" sz="1200" dirty="0">
                <a:solidFill>
                  <a:schemeClr val="tx1"/>
                </a:solidFill>
              </a:rPr>
              <a:t>Hotels and stays</a:t>
            </a:r>
            <a:endParaRPr lang="en-US" sz="1200" dirty="0"/>
          </a:p>
        </p:txBody>
      </p:sp>
      <p:sp>
        <p:nvSpPr>
          <p:cNvPr id="40" name="Request arrow"/>
          <p:cNvSpPr/>
          <p:nvPr/>
        </p:nvSpPr>
        <p:spPr>
          <a:xfrm flipV="1">
            <a:off x="1828800" y="2240280"/>
            <a:ext cx="822960" cy="548640"/>
          </a:xfrm>
          <a:prstGeom prst="line">
            <a:avLst/>
          </a:prstGeom>
          <a:noFill/>
          <a:ln w="25400">
            <a:solidFill>
              <a:schemeClr val="accent1"/>
            </a:solidFill>
            <a:prstDash val="solid"/>
            <a:tailEnd type="triangle"/>
          </a:ln>
        </p:spPr>
      </p:sp>
      <p:sp>
        <p:nvSpPr>
          <p:cNvPr id="41" name="Result arrow"/>
          <p:cNvSpPr/>
          <p:nvPr/>
        </p:nvSpPr>
        <p:spPr>
          <a:xfrm flipH="1" flipV="1">
            <a:off x="1828800" y="4206240"/>
            <a:ext cx="822960" cy="1463040"/>
          </a:xfrm>
          <a:prstGeom prst="line">
            <a:avLst/>
          </a:prstGeom>
          <a:noFill/>
          <a:ln w="25400">
            <a:solidFill>
              <a:schemeClr val="accent1"/>
            </a:solidFill>
            <a:prstDash val="solid"/>
            <a:tailEnd type="triangle"/>
          </a:ln>
        </p:spPr>
      </p:sp>
      <p:sp>
        <p:nvSpPr>
          <p:cNvPr id="42" name="Pages to AI"/>
          <p:cNvSpPr/>
          <p:nvPr/>
        </p:nvSpPr>
        <p:spPr>
          <a:xfrm>
            <a:off x="3931920" y="2606040"/>
            <a:ext cx="914" cy="228600"/>
          </a:xfrm>
          <a:prstGeom prst="line">
            <a:avLst/>
          </a:prstGeom>
          <a:noFill/>
          <a:ln w="25400">
            <a:solidFill>
              <a:schemeClr val="accent1"/>
            </a:solidFill>
            <a:prstDash val="solid"/>
            <a:tailEnd type="triangle"/>
          </a:ln>
        </p:spPr>
      </p:sp>
      <p:sp>
        <p:nvSpPr>
          <p:cNvPr id="43" name="AI to planner"/>
          <p:cNvSpPr/>
          <p:nvPr/>
        </p:nvSpPr>
        <p:spPr>
          <a:xfrm>
            <a:off x="5212080" y="3456432"/>
            <a:ext cx="274320" cy="914"/>
          </a:xfrm>
          <a:prstGeom prst="line">
            <a:avLst/>
          </a:prstGeom>
          <a:noFill/>
          <a:ln w="25400">
            <a:solidFill>
              <a:schemeClr val="accent1"/>
            </a:solidFill>
            <a:prstDash val="solid"/>
            <a:tailEnd type="triangle"/>
          </a:ln>
        </p:spPr>
      </p:sp>
      <p:sp>
        <p:nvSpPr>
          <p:cNvPr id="44" name="Planner to enrich"/>
          <p:cNvSpPr/>
          <p:nvPr/>
        </p:nvSpPr>
        <p:spPr>
          <a:xfrm>
            <a:off x="6766560" y="4069080"/>
            <a:ext cx="914" cy="228600"/>
          </a:xfrm>
          <a:prstGeom prst="line">
            <a:avLst/>
          </a:prstGeom>
          <a:noFill/>
          <a:ln w="25400">
            <a:solidFill>
              <a:schemeClr val="accent1"/>
            </a:solidFill>
            <a:prstDash val="solid"/>
            <a:tailEnd type="triangle"/>
          </a:ln>
        </p:spPr>
      </p:sp>
      <p:sp>
        <p:nvSpPr>
          <p:cNvPr id="45" name="Enrich to outputs"/>
          <p:cNvSpPr/>
          <p:nvPr/>
        </p:nvSpPr>
        <p:spPr>
          <a:xfrm>
            <a:off x="5349240" y="5120640"/>
            <a:ext cx="914" cy="182880"/>
          </a:xfrm>
          <a:prstGeom prst="line">
            <a:avLst/>
          </a:prstGeom>
          <a:noFill/>
          <a:ln w="25400">
            <a:solidFill>
              <a:schemeClr val="accent1"/>
            </a:solidFill>
            <a:prstDash val="solid"/>
            <a:tailEnd type="triangle"/>
          </a:ln>
        </p:spPr>
      </p:sp>
      <p:sp>
        <p:nvSpPr>
          <p:cNvPr id="46" name="AI to Gemini"/>
          <p:cNvSpPr/>
          <p:nvPr/>
        </p:nvSpPr>
        <p:spPr>
          <a:xfrm flipV="1">
            <a:off x="8001000" y="2157984"/>
            <a:ext cx="777240" cy="950976"/>
          </a:xfrm>
          <a:prstGeom prst="line">
            <a:avLst/>
          </a:prstGeom>
          <a:noFill/>
          <a:ln w="25400">
            <a:solidFill>
              <a:schemeClr val="accent1"/>
            </a:solidFill>
            <a:prstDash val="solid"/>
            <a:tailEnd type="triangle"/>
          </a:ln>
        </p:spPr>
      </p:sp>
      <p:sp>
        <p:nvSpPr>
          <p:cNvPr id="47" name="Enrich to services"/>
          <p:cNvSpPr/>
          <p:nvPr/>
        </p:nvSpPr>
        <p:spPr>
          <a:xfrm flipV="1">
            <a:off x="8001000" y="3886200"/>
            <a:ext cx="777240" cy="822960"/>
          </a:xfrm>
          <a:prstGeom prst="line">
            <a:avLst/>
          </a:prstGeom>
          <a:noFill/>
          <a:ln w="25400">
            <a:solidFill>
              <a:schemeClr val="accent1"/>
            </a:solidFill>
            <a:prstDash val="solid"/>
            <a:tailEnd type="triangle"/>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onclusion card 1"/>
          <p:cNvSpPr/>
          <p:nvPr/>
        </p:nvSpPr>
        <p:spPr>
          <a:xfrm>
            <a:off x="548640" y="1417320"/>
            <a:ext cx="3566160" cy="4206240"/>
          </a:xfrm>
          <a:prstGeom prst="roundRect">
            <a:avLst>
              <a:gd name="adj" fmla="val 3077"/>
            </a:avLst>
          </a:prstGeom>
          <a:solidFill>
            <a:schemeClr val="bg1"/>
          </a:solidFill>
          <a:ln/>
        </p:spPr>
      </p:sp>
      <p:sp>
        <p:nvSpPr>
          <p:cNvPr id="4" name="Summary circle"/>
          <p:cNvSpPr/>
          <p:nvPr/>
        </p:nvSpPr>
        <p:spPr>
          <a:xfrm>
            <a:off x="822960" y="1691640"/>
            <a:ext cx="731520" cy="731520"/>
          </a:xfrm>
          <a:prstGeom prst="ellipse">
            <a:avLst/>
          </a:prstGeom>
          <a:solidFill>
            <a:schemeClr val="accent2"/>
          </a:solidFill>
          <a:ln/>
        </p:spPr>
      </p:sp>
      <p:pic>
        <p:nvPicPr>
          <p:cNvPr id="5" name="Summary icon" descr="Summary">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822960" y="2606040"/>
            <a:ext cx="3017520" cy="411480"/>
          </a:xfrm>
          <a:prstGeom prst="rect">
            <a:avLst/>
          </a:prstGeom>
          <a:noFill/>
          <a:ln/>
        </p:spPr>
        <p:txBody>
          <a:bodyPr wrap="square" lIns="0" tIns="0" rIns="0" bIns="0" rtlCol="0" anchor="t"/>
          <a:lstStyle/>
          <a:p>
            <a:pPr indent="0" marL="0">
              <a:buNone/>
            </a:pPr>
            <a:r>
              <a:rPr lang="en-US" sz="2200" b="1" dirty="0">
                <a:solidFill>
                  <a:schemeClr val="accent1"/>
                </a:solidFill>
              </a:rPr>
              <a:t>Summary</a:t>
            </a:r>
            <a:endParaRPr lang="en-US" sz="2200" dirty="0"/>
          </a:p>
        </p:txBody>
      </p:sp>
      <p:sp>
        <p:nvSpPr>
          <p:cNvPr id="7" name="Text 4"/>
          <p:cNvSpPr txBox="1"/>
          <p:nvPr/>
        </p:nvSpPr>
        <p:spPr>
          <a:xfrm>
            <a:off x="822960" y="3154680"/>
            <a:ext cx="306324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Speak or type a trip in Kannada or English</a:t>
            </a:r>
            <a:endParaRPr lang="en-US" sz="1500" dirty="0"/>
          </a:p>
          <a:p>
            <a:pPr marL="342900" indent="-342900">
              <a:spcAft>
                <a:spcPts val="1000"/>
              </a:spcAft>
              <a:buSzPct val="100000"/>
              <a:buChar char="•"/>
            </a:pPr>
            <a:r>
              <a:rPr lang="en-US" sz="1500" dirty="0">
                <a:solidFill>
                  <a:schemeClr val="tx1"/>
                </a:solidFill>
              </a:rPr>
              <a:t>Realistic day-by-day plan from verified places</a:t>
            </a:r>
            <a:endParaRPr lang="en-US" sz="1500" dirty="0"/>
          </a:p>
          <a:p>
            <a:pPr marL="342900" indent="-342900">
              <a:spcAft>
                <a:spcPts val="1000"/>
              </a:spcAft>
              <a:buSzPct val="100000"/>
              <a:buChar char="•"/>
            </a:pPr>
            <a:r>
              <a:rPr lang="en-US" sz="1500" dirty="0">
                <a:solidFill>
                  <a:schemeClr val="tx1"/>
                </a:solidFill>
              </a:rPr>
              <a:t>Map, weather, stays, costs, audio and PDF, free</a:t>
            </a:r>
            <a:endParaRPr lang="en-US" sz="1500" dirty="0"/>
          </a:p>
        </p:txBody>
      </p:sp>
      <p:sp>
        <p:nvSpPr>
          <p:cNvPr id="8" name="Conclusion card 2"/>
          <p:cNvSpPr/>
          <p:nvPr/>
        </p:nvSpPr>
        <p:spPr>
          <a:xfrm>
            <a:off x="4297680" y="1417320"/>
            <a:ext cx="3566160" cy="4206240"/>
          </a:xfrm>
          <a:prstGeom prst="roundRect">
            <a:avLst>
              <a:gd name="adj" fmla="val 3077"/>
            </a:avLst>
          </a:prstGeom>
          <a:solidFill>
            <a:schemeClr val="bg1"/>
          </a:solidFill>
          <a:ln/>
        </p:spPr>
      </p:sp>
      <p:sp>
        <p:nvSpPr>
          <p:cNvPr id="9" name="Impact circle"/>
          <p:cNvSpPr/>
          <p:nvPr/>
        </p:nvSpPr>
        <p:spPr>
          <a:xfrm>
            <a:off x="4572000" y="1691640"/>
            <a:ext cx="731520" cy="731520"/>
          </a:xfrm>
          <a:prstGeom prst="ellipse">
            <a:avLst/>
          </a:prstGeom>
          <a:solidFill>
            <a:schemeClr val="accent2"/>
          </a:solidFill>
          <a:ln/>
        </p:spPr>
      </p:sp>
      <p:pic>
        <p:nvPicPr>
          <p:cNvPr id="10" name="Impact icon" descr="Impact">    </p:cNvPr>
          <p:cNvPicPr>
            <a:picLocks noChangeAspect="1"/>
          </p:cNvPicPr>
          <p:nvPr/>
        </p:nvPicPr>
        <p:blipFill>
          <a:blip r:embed="rId2"/>
          <a:stretch>
            <a:fillRect/>
          </a:stretch>
        </p:blipFill>
        <p:spPr>
          <a:xfrm>
            <a:off x="4754880" y="1874520"/>
            <a:ext cx="365760" cy="365760"/>
          </a:xfrm>
          <a:prstGeom prst="rect">
            <a:avLst/>
          </a:prstGeom>
        </p:spPr>
      </p:pic>
      <p:sp>
        <p:nvSpPr>
          <p:cNvPr id="11" name="Text 7"/>
          <p:cNvSpPr txBox="1"/>
          <p:nvPr/>
        </p:nvSpPr>
        <p:spPr>
          <a:xfrm>
            <a:off x="4572000" y="2606040"/>
            <a:ext cx="3017520" cy="411480"/>
          </a:xfrm>
          <a:prstGeom prst="rect">
            <a:avLst/>
          </a:prstGeom>
          <a:noFill/>
          <a:ln/>
        </p:spPr>
        <p:txBody>
          <a:bodyPr wrap="square" lIns="0" tIns="0" rIns="0" bIns="0" rtlCol="0" anchor="t"/>
          <a:lstStyle/>
          <a:p>
            <a:pPr indent="0" marL="0">
              <a:buNone/>
            </a:pPr>
            <a:r>
              <a:rPr lang="en-US" sz="2200" b="1" dirty="0">
                <a:solidFill>
                  <a:schemeClr val="accent1"/>
                </a:solidFill>
              </a:rPr>
              <a:t>Impact</a:t>
            </a:r>
            <a:endParaRPr lang="en-US" sz="2200" dirty="0"/>
          </a:p>
        </p:txBody>
      </p:sp>
      <p:sp>
        <p:nvSpPr>
          <p:cNvPr id="12" name="Text 8"/>
          <p:cNvSpPr txBox="1"/>
          <p:nvPr/>
        </p:nvSpPr>
        <p:spPr>
          <a:xfrm>
            <a:off x="4572000" y="3154680"/>
            <a:ext cx="306324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Kannada-first travellers can plan on their own</a:t>
            </a:r>
            <a:endParaRPr lang="en-US" sz="1500" dirty="0"/>
          </a:p>
          <a:p>
            <a:pPr marL="342900" indent="-342900">
              <a:spcAft>
                <a:spcPts val="1000"/>
              </a:spcAft>
              <a:buSzPct val="100000"/>
              <a:buChar char="•"/>
            </a:pPr>
            <a:r>
              <a:rPr lang="en-US" sz="1500" dirty="0">
                <a:solidFill>
                  <a:schemeClr val="tx1"/>
                </a:solidFill>
              </a:rPr>
              <a:t>Fewer wrong-season trips and wasted drives</a:t>
            </a:r>
            <a:endParaRPr lang="en-US" sz="1500" dirty="0"/>
          </a:p>
          <a:p>
            <a:pPr marL="342900" indent="-342900">
              <a:spcAft>
                <a:spcPts val="1000"/>
              </a:spcAft>
              <a:buSzPct val="100000"/>
              <a:buChar char="•"/>
            </a:pPr>
            <a:r>
              <a:rPr lang="en-US" sz="1500" dirty="0">
                <a:solidFill>
                  <a:schemeClr val="tx1"/>
                </a:solidFill>
              </a:rPr>
              <a:t>Brings visitors to lesser-known places across the state</a:t>
            </a:r>
            <a:endParaRPr lang="en-US" sz="1500" dirty="0"/>
          </a:p>
        </p:txBody>
      </p:sp>
      <p:sp>
        <p:nvSpPr>
          <p:cNvPr id="13" name="Conclusion card 3"/>
          <p:cNvSpPr/>
          <p:nvPr/>
        </p:nvSpPr>
        <p:spPr>
          <a:xfrm>
            <a:off x="8046720" y="1417320"/>
            <a:ext cx="3566160" cy="4206240"/>
          </a:xfrm>
          <a:prstGeom prst="roundRect">
            <a:avLst>
              <a:gd name="adj" fmla="val 3077"/>
            </a:avLst>
          </a:prstGeom>
          <a:solidFill>
            <a:schemeClr val="bg1"/>
          </a:solidFill>
          <a:ln/>
        </p:spPr>
      </p:sp>
      <p:sp>
        <p:nvSpPr>
          <p:cNvPr id="14" name="Future scope circle"/>
          <p:cNvSpPr/>
          <p:nvPr/>
        </p:nvSpPr>
        <p:spPr>
          <a:xfrm>
            <a:off x="8321040" y="1691640"/>
            <a:ext cx="731520" cy="731520"/>
          </a:xfrm>
          <a:prstGeom prst="ellipse">
            <a:avLst/>
          </a:prstGeom>
          <a:solidFill>
            <a:schemeClr val="accent2"/>
          </a:solidFill>
          <a:ln/>
        </p:spPr>
      </p:sp>
      <p:pic>
        <p:nvPicPr>
          <p:cNvPr id="15" name="Future scope icon" descr="Future scope">    </p:cNvPr>
          <p:cNvPicPr>
            <a:picLocks noChangeAspect="1"/>
          </p:cNvPicPr>
          <p:nvPr/>
        </p:nvPicPr>
        <p:blipFill>
          <a:blip r:embed="rId3"/>
          <a:stretch>
            <a:fillRect/>
          </a:stretch>
        </p:blipFill>
        <p:spPr>
          <a:xfrm>
            <a:off x="8503920" y="1874520"/>
            <a:ext cx="365760" cy="365760"/>
          </a:xfrm>
          <a:prstGeom prst="rect">
            <a:avLst/>
          </a:prstGeom>
        </p:spPr>
      </p:pic>
      <p:sp>
        <p:nvSpPr>
          <p:cNvPr id="16" name="Text 11"/>
          <p:cNvSpPr txBox="1"/>
          <p:nvPr/>
        </p:nvSpPr>
        <p:spPr>
          <a:xfrm>
            <a:off x="8321040" y="2606040"/>
            <a:ext cx="3017520" cy="411480"/>
          </a:xfrm>
          <a:prstGeom prst="rect">
            <a:avLst/>
          </a:prstGeom>
          <a:noFill/>
          <a:ln/>
        </p:spPr>
        <p:txBody>
          <a:bodyPr wrap="square" lIns="0" tIns="0" rIns="0" bIns="0" rtlCol="0" anchor="t"/>
          <a:lstStyle/>
          <a:p>
            <a:pPr indent="0" marL="0">
              <a:buNone/>
            </a:pPr>
            <a:r>
              <a:rPr lang="en-US" sz="2200" b="1" dirty="0">
                <a:solidFill>
                  <a:schemeClr val="accent1"/>
                </a:solidFill>
              </a:rPr>
              <a:t>Future scope</a:t>
            </a:r>
            <a:endParaRPr lang="en-US" sz="2200" dirty="0"/>
          </a:p>
        </p:txBody>
      </p:sp>
      <p:sp>
        <p:nvSpPr>
          <p:cNvPr id="17" name="Text 12"/>
          <p:cNvSpPr txBox="1"/>
          <p:nvPr/>
        </p:nvSpPr>
        <p:spPr>
          <a:xfrm>
            <a:off x="8321040" y="3154680"/>
            <a:ext cx="306324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More places, covering every district</a:t>
            </a:r>
            <a:endParaRPr lang="en-US" sz="1500" dirty="0"/>
          </a:p>
          <a:p>
            <a:pPr marL="342900" indent="-342900">
              <a:spcAft>
                <a:spcPts val="1000"/>
              </a:spcAft>
              <a:buSzPct val="100000"/>
              <a:buChar char="•"/>
            </a:pPr>
            <a:r>
              <a:rPr lang="en-US" sz="1500" dirty="0">
                <a:solidFill>
                  <a:schemeClr val="tx1"/>
                </a:solidFill>
              </a:rPr>
              <a:t>Live bus and train timings, booking links</a:t>
            </a:r>
            <a:endParaRPr lang="en-US" sz="1500" dirty="0"/>
          </a:p>
          <a:p>
            <a:pPr marL="342900" indent="-342900">
              <a:spcAft>
                <a:spcPts val="1000"/>
              </a:spcAft>
              <a:buSzPct val="100000"/>
              <a:buChar char="•"/>
            </a:pPr>
            <a:r>
              <a:rPr lang="en-US" sz="1500" dirty="0">
                <a:solidFill>
                  <a:schemeClr val="tx1"/>
                </a:solidFill>
              </a:rPr>
              <a:t>Offline mode, more languages, traveller reviews</a:t>
            </a:r>
            <a:endParaRPr lang="en-US" sz="1500" dirty="0"/>
          </a:p>
        </p:txBody>
      </p:sp>
      <p:sp>
        <p:nvSpPr>
          <p:cNvPr id="18" name="Text 13"/>
          <p:cNvSpPr txBox="1"/>
          <p:nvPr/>
        </p:nvSpPr>
        <p:spPr>
          <a:xfrm>
            <a:off x="548640" y="5852160"/>
            <a:ext cx="10058400" cy="411480"/>
          </a:xfrm>
          <a:prstGeom prst="rect">
            <a:avLst/>
          </a:prstGeom>
          <a:noFill/>
          <a:ln/>
        </p:spPr>
        <p:txBody>
          <a:bodyPr wrap="square" lIns="0" tIns="0" rIns="0" bIns="0" rtlCol="0" anchor="t"/>
          <a:lstStyle/>
          <a:p>
            <a:pPr indent="0" marL="0">
              <a:buNone/>
            </a:pPr>
            <a:r>
              <a:rPr lang="en-US" sz="1800" b="1" dirty="0">
                <a:solidFill>
                  <a:schemeClr val="bg1"/>
                </a:solidFill>
              </a:rPr>
              <a:t>Pravasa makes Karnataka easier to explore, in the traveller's own language.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Scope and limitations</a:t>
            </a:r>
            <a:endParaRPr lang="en-US" sz="3400" dirty="0"/>
          </a:p>
        </p:txBody>
      </p:sp>
      <p:sp>
        <p:nvSpPr>
          <p:cNvPr id="3" name="Limitations card left"/>
          <p:cNvSpPr/>
          <p:nvPr/>
        </p:nvSpPr>
        <p:spPr>
          <a:xfrm>
            <a:off x="548640" y="1371600"/>
            <a:ext cx="5440680" cy="3931920"/>
          </a:xfrm>
          <a:prstGeom prst="roundRect">
            <a:avLst>
              <a:gd name="adj" fmla="val 2791"/>
            </a:avLst>
          </a:prstGeom>
          <a:solidFill>
            <a:schemeClr val="bg2"/>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4" name="Limitations card right"/>
          <p:cNvSpPr/>
          <p:nvPr/>
        </p:nvSpPr>
        <p:spPr>
          <a:xfrm>
            <a:off x="6172200" y="1371600"/>
            <a:ext cx="5440680" cy="3931920"/>
          </a:xfrm>
          <a:prstGeom prst="roundRect">
            <a:avLst>
              <a:gd name="adj" fmla="val 2791"/>
            </a:avLst>
          </a:prstGeom>
          <a:solidFill>
            <a:schemeClr val="bg2"/>
          </a:solidFill>
          <a:ln w="12700">
            <a:solidFill>
              <a:schemeClr val="accent5"/>
            </a:solidFill>
            <a:prstDash val="solid"/>
          </a:ln>
          <a:effectLst>
            <a:outerShdw sx="100000" sy="100000" kx="0" ky="0" algn="bl" rotWithShape="0" blurRad="76200" dist="25400" dir="5400000">
              <a:srgbClr val="000000">
                <a:alpha val="8000"/>
              </a:srgbClr>
            </a:outerShdw>
          </a:effectLst>
        </p:spPr>
      </p:sp>
      <p:sp>
        <p:nvSpPr>
          <p:cNvPr id="5" name="Scope circle"/>
          <p:cNvSpPr/>
          <p:nvPr/>
        </p:nvSpPr>
        <p:spPr>
          <a:xfrm>
            <a:off x="777240" y="1554480"/>
            <a:ext cx="548640" cy="548640"/>
          </a:xfrm>
          <a:prstGeom prst="ellipse">
            <a:avLst/>
          </a:prstGeom>
          <a:solidFill>
            <a:schemeClr val="accent1"/>
          </a:solidFill>
          <a:ln/>
        </p:spPr>
      </p:sp>
      <p:pic>
        <p:nvPicPr>
          <p:cNvPr id="6" name="Scope icon" descr="Scope">    </p:cNvPr>
          <p:cNvPicPr>
            <a:picLocks noChangeAspect="1"/>
          </p:cNvPicPr>
          <p:nvPr/>
        </p:nvPicPr>
        <p:blipFill>
          <a:blip r:embed="rId1"/>
          <a:stretch>
            <a:fillRect/>
          </a:stretch>
        </p:blipFill>
        <p:spPr>
          <a:xfrm>
            <a:off x="914400" y="1691640"/>
            <a:ext cx="274320" cy="274320"/>
          </a:xfrm>
          <a:prstGeom prst="rect">
            <a:avLst/>
          </a:prstGeom>
        </p:spPr>
      </p:pic>
      <p:sp>
        <p:nvSpPr>
          <p:cNvPr id="7" name="Text 4"/>
          <p:cNvSpPr txBox="1"/>
          <p:nvPr/>
        </p:nvSpPr>
        <p:spPr>
          <a:xfrm>
            <a:off x="1463040" y="1554480"/>
            <a:ext cx="4297680" cy="548640"/>
          </a:xfrm>
          <a:prstGeom prst="rect">
            <a:avLst/>
          </a:prstGeom>
          <a:noFill/>
          <a:ln/>
        </p:spPr>
        <p:txBody>
          <a:bodyPr wrap="square" lIns="0" tIns="0" rIns="0" bIns="0" rtlCol="0" anchor="ctr"/>
          <a:lstStyle/>
          <a:p>
            <a:pPr indent="0" marL="0">
              <a:buNone/>
            </a:pPr>
            <a:r>
              <a:rPr lang="en-US" sz="1800" b="1" dirty="0">
                <a:solidFill>
                  <a:schemeClr val="accent1"/>
                </a:solidFill>
              </a:rPr>
              <a:t>What it covers</a:t>
            </a:r>
            <a:endParaRPr lang="en-US" sz="1800" dirty="0"/>
          </a:p>
        </p:txBody>
      </p:sp>
      <p:sp>
        <p:nvSpPr>
          <p:cNvPr id="8" name="Text 5"/>
          <p:cNvSpPr txBox="1"/>
          <p:nvPr/>
        </p:nvSpPr>
        <p:spPr>
          <a:xfrm>
            <a:off x="777240" y="2240280"/>
            <a:ext cx="5029200" cy="33375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Selected places only: </a:t>
            </a:r>
            <a:pPr indent="0" marL="0">
              <a:spcAft>
                <a:spcPts val="800"/>
              </a:spcAft>
              <a:buNone/>
            </a:pPr>
            <a:r>
              <a:rPr lang="en-US" sz="1400" dirty="0">
                <a:solidFill>
                  <a:schemeClr val="tx1"/>
                </a:solidFill>
              </a:rPr>
              <a:t>trips use 55 hand-picked destinations in 6 regions, not every place in Karnataka.</a:t>
            </a:r>
            <a:endParaRPr lang="en-US" sz="1400" dirty="0"/>
          </a:p>
          <a:p>
            <a:pPr marL="342900" indent="-342900">
              <a:spcAft>
                <a:spcPts val="800"/>
              </a:spcAft>
              <a:buSzPct val="100000"/>
              <a:buChar char="•"/>
            </a:pPr>
            <a:r>
              <a:rPr lang="en-US" sz="1400" b="1" dirty="0">
                <a:solidFill>
                  <a:schemeClr val="tx1"/>
                </a:solidFill>
              </a:rPr>
              <a:t>32 starting cities: </a:t>
            </a:r>
            <a:pPr indent="0" marL="0">
              <a:spcAft>
                <a:spcPts val="800"/>
              </a:spcAft>
              <a:buNone/>
            </a:pPr>
            <a:r>
              <a:rPr lang="en-US" sz="1400" dirty="0">
                <a:solidFill>
                  <a:schemeClr val="tx1"/>
                </a:solidFill>
              </a:rPr>
              <a:t>every district headquarters plus a few major towns.</a:t>
            </a:r>
            <a:endParaRPr lang="en-US" sz="1400" dirty="0"/>
          </a:p>
          <a:p>
            <a:pPr marL="342900" indent="-342900">
              <a:spcAft>
                <a:spcPts val="800"/>
              </a:spcAft>
              <a:buSzPct val="100000"/>
              <a:buChar char="•"/>
            </a:pPr>
            <a:r>
              <a:rPr lang="en-US" sz="1400" b="1" dirty="0">
                <a:solidFill>
                  <a:schemeClr val="tx1"/>
                </a:solidFill>
              </a:rPr>
              <a:t>Costs are estimates: </a:t>
            </a:r>
            <a:pPr indent="0" marL="0">
              <a:spcAft>
                <a:spcPts val="800"/>
              </a:spcAft>
              <a:buNone/>
            </a:pPr>
            <a:r>
              <a:rPr lang="en-US" sz="1400" dirty="0">
                <a:solidFill>
                  <a:schemeClr val="tx1"/>
                </a:solidFill>
              </a:rPr>
              <a:t>fees, timings and prices change; please confirm locally.</a:t>
            </a:r>
            <a:endParaRPr lang="en-US" sz="1400" dirty="0"/>
          </a:p>
          <a:p>
            <a:pPr marL="342900" indent="-342900">
              <a:spcAft>
                <a:spcPts val="800"/>
              </a:spcAft>
              <a:buSzPct val="100000"/>
              <a:buChar char="•"/>
            </a:pPr>
            <a:r>
              <a:rPr lang="en-US" sz="1400" b="1" dirty="0">
                <a:solidFill>
                  <a:schemeClr val="tx1"/>
                </a:solidFill>
              </a:rPr>
              <a:t>Distances: </a:t>
            </a:r>
            <a:pPr indent="0" marL="0">
              <a:spcAft>
                <a:spcPts val="800"/>
              </a:spcAft>
              <a:buNone/>
            </a:pPr>
            <a:r>
              <a:rPr lang="en-US" sz="1400" dirty="0">
                <a:solidFill>
                  <a:schemeClr val="tx1"/>
                </a:solidFill>
              </a:rPr>
              <a:t>real road routes from OSRM; if unavailable, an estimate is shown and marked.</a:t>
            </a:r>
            <a:endParaRPr lang="en-US" sz="1400" dirty="0"/>
          </a:p>
          <a:p>
            <a:pPr marL="342900" indent="-342900">
              <a:spcAft>
                <a:spcPts val="800"/>
              </a:spcAft>
              <a:buSzPct val="100000"/>
              <a:buChar char="•"/>
            </a:pPr>
            <a:r>
              <a:rPr lang="en-US" sz="1400" b="1" dirty="0">
                <a:solidFill>
                  <a:schemeClr val="tx1"/>
                </a:solidFill>
              </a:rPr>
              <a:t>Weather: </a:t>
            </a:r>
            <a:pPr indent="0" marL="0">
              <a:spcAft>
                <a:spcPts val="800"/>
              </a:spcAft>
              <a:buNone/>
            </a:pPr>
            <a:r>
              <a:rPr lang="en-US" sz="1400" dirty="0">
                <a:solidFill>
                  <a:schemeClr val="tx1"/>
                </a:solidFill>
              </a:rPr>
              <a:t>a real forecast only up to 16 days ahead; otherwise typical weather for that month.</a:t>
            </a:r>
            <a:endParaRPr lang="en-US" sz="1400" dirty="0"/>
          </a:p>
        </p:txBody>
      </p:sp>
      <p:sp>
        <p:nvSpPr>
          <p:cNvPr id="9" name="Limits circle"/>
          <p:cNvSpPr/>
          <p:nvPr/>
        </p:nvSpPr>
        <p:spPr>
          <a:xfrm>
            <a:off x="6400800" y="1554480"/>
            <a:ext cx="548640" cy="548640"/>
          </a:xfrm>
          <a:prstGeom prst="ellipse">
            <a:avLst/>
          </a:prstGeom>
          <a:solidFill>
            <a:schemeClr val="accent1"/>
          </a:solidFill>
          <a:ln/>
        </p:spPr>
      </p:sp>
      <p:pic>
        <p:nvPicPr>
          <p:cNvPr id="10" name="Limits icon" descr="Limits">    </p:cNvPr>
          <p:cNvPicPr>
            <a:picLocks noChangeAspect="1"/>
          </p:cNvPicPr>
          <p:nvPr/>
        </p:nvPicPr>
        <p:blipFill>
          <a:blip r:embed="rId2"/>
          <a:stretch>
            <a:fillRect/>
          </a:stretch>
        </p:blipFill>
        <p:spPr>
          <a:xfrm>
            <a:off x="6537960" y="1691640"/>
            <a:ext cx="274320" cy="274320"/>
          </a:xfrm>
          <a:prstGeom prst="rect">
            <a:avLst/>
          </a:prstGeom>
        </p:spPr>
      </p:pic>
      <p:sp>
        <p:nvSpPr>
          <p:cNvPr id="11" name="Text 7"/>
          <p:cNvSpPr txBox="1"/>
          <p:nvPr/>
        </p:nvSpPr>
        <p:spPr>
          <a:xfrm>
            <a:off x="7086600" y="1554480"/>
            <a:ext cx="4297680" cy="548640"/>
          </a:xfrm>
          <a:prstGeom prst="rect">
            <a:avLst/>
          </a:prstGeom>
          <a:noFill/>
          <a:ln/>
        </p:spPr>
        <p:txBody>
          <a:bodyPr wrap="square" lIns="0" tIns="0" rIns="0" bIns="0" rtlCol="0" anchor="ctr"/>
          <a:lstStyle/>
          <a:p>
            <a:pPr indent="0" marL="0">
              <a:buNone/>
            </a:pPr>
            <a:r>
              <a:rPr lang="en-US" sz="1800" b="1" dirty="0">
                <a:solidFill>
                  <a:schemeClr val="accent1"/>
                </a:solidFill>
              </a:rPr>
              <a:t>Good to know</a:t>
            </a:r>
            <a:endParaRPr lang="en-US" sz="1800" dirty="0"/>
          </a:p>
        </p:txBody>
      </p:sp>
      <p:sp>
        <p:nvSpPr>
          <p:cNvPr id="12" name="Text 8"/>
          <p:cNvSpPr txBox="1"/>
          <p:nvPr/>
        </p:nvSpPr>
        <p:spPr>
          <a:xfrm>
            <a:off x="6400800" y="2240280"/>
            <a:ext cx="5029200" cy="33375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Hotels: </a:t>
            </a:r>
            <a:pPr indent="0" marL="0">
              <a:spcAft>
                <a:spcPts val="800"/>
              </a:spcAft>
              <a:buNone/>
            </a:pPr>
            <a:r>
              <a:rPr lang="en-US" sz="1400" dirty="0">
                <a:solidFill>
                  <a:schemeClr val="tx1"/>
                </a:solidFill>
              </a:rPr>
              <a:t>listed from OpenStreetMap and may be incomplete; Pravasa does not take bookings.</a:t>
            </a:r>
            <a:endParaRPr lang="en-US" sz="1400" dirty="0"/>
          </a:p>
          <a:p>
            <a:pPr marL="342900" indent="-342900">
              <a:spcAft>
                <a:spcPts val="800"/>
              </a:spcAft>
              <a:buSzPct val="100000"/>
              <a:buChar char="•"/>
            </a:pPr>
            <a:r>
              <a:rPr lang="en-US" sz="1400" b="1" dirty="0">
                <a:solidFill>
                  <a:schemeClr val="tx1"/>
                </a:solidFill>
              </a:rPr>
              <a:t>Photos and text: </a:t>
            </a:r>
            <a:pPr indent="0" marL="0">
              <a:spcAft>
                <a:spcPts val="800"/>
              </a:spcAft>
              <a:buNone/>
            </a:pPr>
            <a:r>
              <a:rPr lang="en-US" sz="1400" dirty="0">
                <a:solidFill>
                  <a:schemeClr val="tx1"/>
                </a:solidFill>
              </a:rPr>
              <a:t>from Wikipedia and Wikimedia Commons, credited to their authors.</a:t>
            </a:r>
            <a:endParaRPr lang="en-US" sz="1400" dirty="0"/>
          </a:p>
          <a:p>
            <a:pPr marL="342900" indent="-342900">
              <a:spcAft>
                <a:spcPts val="800"/>
              </a:spcAft>
              <a:buSzPct val="100000"/>
              <a:buChar char="•"/>
            </a:pPr>
            <a:r>
              <a:rPr lang="en-US" sz="1400" b="1" dirty="0">
                <a:solidFill>
                  <a:schemeClr val="tx1"/>
                </a:solidFill>
              </a:rPr>
              <a:t>AI features: </a:t>
            </a:r>
            <a:pPr indent="0" marL="0">
              <a:spcAft>
                <a:spcPts val="800"/>
              </a:spcAft>
              <a:buNone/>
            </a:pPr>
            <a:r>
              <a:rPr lang="en-US" sz="1400" dirty="0">
                <a:solidFill>
                  <a:schemeClr val="tx1"/>
                </a:solidFill>
              </a:rPr>
              <a:t>need internet and a Gemini key; if the AI is slow, a simple summary is shown.</a:t>
            </a:r>
            <a:endParaRPr lang="en-US" sz="1400" dirty="0"/>
          </a:p>
          <a:p>
            <a:pPr marL="342900" indent="-342900">
              <a:spcAft>
                <a:spcPts val="800"/>
              </a:spcAft>
              <a:buSzPct val="100000"/>
              <a:buChar char="•"/>
            </a:pPr>
            <a:r>
              <a:rPr lang="en-US" sz="1400" b="1" dirty="0">
                <a:solidFill>
                  <a:schemeClr val="tx1"/>
                </a:solidFill>
              </a:rPr>
              <a:t>Kannada text: </a:t>
            </a:r>
            <a:pPr indent="0" marL="0">
              <a:spcAft>
                <a:spcPts val="800"/>
              </a:spcAft>
              <a:buNone/>
            </a:pPr>
            <a:r>
              <a:rPr lang="en-US" sz="1400" dirty="0">
                <a:solidFill>
                  <a:schemeClr val="tx1"/>
                </a:solidFill>
              </a:rPr>
              <a:t>translations are best-effort and still being reviewed.</a:t>
            </a:r>
            <a:endParaRPr lang="en-US" sz="1400" dirty="0"/>
          </a:p>
          <a:p>
            <a:pPr marL="342900" indent="-342900">
              <a:spcAft>
                <a:spcPts val="800"/>
              </a:spcAft>
              <a:buSzPct val="100000"/>
              <a:buChar char="•"/>
            </a:pPr>
            <a:r>
              <a:rPr lang="en-US" sz="1400" b="1" dirty="0">
                <a:solidFill>
                  <a:schemeClr val="tx1"/>
                </a:solidFill>
              </a:rPr>
              <a:t>Independent project: </a:t>
            </a:r>
            <a:pPr indent="0" marL="0">
              <a:spcAft>
                <a:spcPts val="800"/>
              </a:spcAft>
              <a:buNone/>
            </a:pPr>
            <a:r>
              <a:rPr lang="en-US" sz="1400" dirty="0">
                <a:solidFill>
                  <a:schemeClr val="tx1"/>
                </a:solidFill>
              </a:rPr>
              <a:t>not affiliated with Karnataka Tourism, KSTDC or KSRTC.</a:t>
            </a:r>
            <a:endParaRPr lang="en-US" sz="1400" dirty="0"/>
          </a:p>
        </p:txBody>
      </p:sp>
      <p:sp>
        <p:nvSpPr>
          <p:cNvPr id="13" name="Text 9"/>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2000" b="1" dirty="0">
                <a:solidFill>
                  <a:schemeClr val="accent1"/>
                </a:solidFill>
              </a:rPr>
              <a:t>Thank you  ·  </a:t>
            </a:r>
            <a:pPr indent="0" marL="0">
              <a:buNone/>
            </a:pPr>
            <a:r>
              <a:rPr lang="en-US" sz="2000" b="1" dirty="0">
                <a:solidFill>
                  <a:schemeClr val="accent1"/>
                </a:solidFill>
                <a:latin typeface="Nirmala UI" pitchFamily="34" charset="0"/>
                <a:ea typeface="Nirmala UI" pitchFamily="34" charset="-122"/>
                <a:cs typeface="Nirmala UI" pitchFamily="34" charset="-120"/>
              </a:rPr>
              <a:t>ಧನ್ಯವಾದಗಳು</a:t>
            </a:r>
            <a:pPr indent="0" marL="0">
              <a:buNone/>
            </a:pPr>
            <a:r>
              <a:rPr lang="en-US" sz="2000" dirty="0">
                <a:solidFill>
                  <a:schemeClr val="accent3"/>
                </a:solidFill>
              </a:rPr>
              <a:t>     github.com/shravanisy2006/Pravasa</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ravasa">
  <a:themeElements>
    <a:clrScheme name="Pravasa">
      <a:dk1>
        <a:srgbClr val="24201E"/>
      </a:dk1>
      <a:lt1>
        <a:srgbClr val="FFFFFF"/>
      </a:lt1>
      <a:dk2>
        <a:srgbClr val="A30D25"/>
      </a:dk2>
      <a:lt2>
        <a:srgbClr val="FFF4D1"/>
      </a:lt2>
      <a:accent1>
        <a:srgbClr val="C8102E"/>
      </a:accent1>
      <a:accent2>
        <a:srgbClr val="FFC72C"/>
      </a:accent2>
      <a:accent3>
        <a:srgbClr val="6E6862"/>
      </a:accent3>
      <a:accent4>
        <a:srgbClr val="FBE7EA"/>
      </a:accent4>
      <a:accent5>
        <a:srgbClr val="E9E5DF"/>
      </a:accent5>
      <a:accent6>
        <a:srgbClr val="1E7B3A"/>
      </a:accent6>
      <a:hlink>
        <a:srgbClr val="C8102E"/>
      </a:hlink>
      <a:folHlink>
        <a:srgbClr val="A30D25"/>
      </a:folHlink>
    </a:clrScheme>
    <a:fontScheme name="Pravas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Pravasa - AI Travel Planner for Karnataka</dc:title>
  <dc:subject>PptxGenJS Presentation</dc:subject>
  <dc:creator>Shravani Yalagatti</dc:creator>
  <cp:lastModifiedBy>Shravani Yalagatti</cp:lastModifiedBy>
  <cp:revision>1</cp:revision>
  <dcterms:created xsi:type="dcterms:W3CDTF">2026-10-25T14:31:34Z</dcterms:created>
  <dcterms:modified xsi:type="dcterms:W3CDTF">2026-10-25T14:31:34Z</dcterms:modified>
</cp:coreProperties>
</file>